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94efedd9e54450" /><Relationship Type="http://schemas.openxmlformats.org/officeDocument/2006/relationships/extended-properties" Target="/docProps/app.xml" Id="Rc37245a2661648b6" /><Relationship Type="http://schemas.openxmlformats.org/officeDocument/2006/relationships/officeDocument" Target="/ppt/presentation.xml" Id="R13d718b8eafa4d34" /></Relationships>
</file>

<file path=ppt/presentation.xml><?xml version="1.0" encoding="utf-8"?>
<p:presentation xmlns:p="http://schemas.openxmlformats.org/presentationml/2006/main">
  <p:sldMasterIdLst>
    <p:sldMasterId xmlns:r="http://schemas.openxmlformats.org/officeDocument/2006/relationships" id="2147483648" r:id="Ra817e9706e204180"/>
  </p:sldMasterIdLst>
  <p:notesMasterIdLst>
    <p:notesMasterId xmlns:r="http://schemas.openxmlformats.org/officeDocument/2006/relationships" r:id="R6d71a9941beb40c3"/>
  </p:notesMasterIdLst>
  <p:sldIdLst>
    <p:sldId xmlns:r="http://schemas.openxmlformats.org/officeDocument/2006/relationships" id="256" r:id="R00f20a1a73074c79"/>
    <p:sldId xmlns:r="http://schemas.openxmlformats.org/officeDocument/2006/relationships" id="257" r:id="Rec29aa221790462c"/>
    <p:sldId xmlns:r="http://schemas.openxmlformats.org/officeDocument/2006/relationships" id="258" r:id="Rdf73b9818e454257"/>
    <p:sldId xmlns:r="http://schemas.openxmlformats.org/officeDocument/2006/relationships" id="259" r:id="R741ada6fdff544dd"/>
    <p:sldId xmlns:r="http://schemas.openxmlformats.org/officeDocument/2006/relationships" id="260" r:id="Rbcbc7112163446c3"/>
    <p:sldId xmlns:r="http://schemas.openxmlformats.org/officeDocument/2006/relationships" id="261" r:id="R3eb088c273c94203"/>
    <p:sldId xmlns:r="http://schemas.openxmlformats.org/officeDocument/2006/relationships" id="262" r:id="R68f5a5f3c1394e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0d46a384a84f12" /><Relationship Type="http://schemas.openxmlformats.org/officeDocument/2006/relationships/slideMaster" Target="/ppt/slideMasters/slideMaster1.xml" Id="Ra817e9706e204180" /><Relationship Type="http://schemas.openxmlformats.org/officeDocument/2006/relationships/notesMaster" Target="/ppt/notesMasters/notesMaster1.xml" Id="R6d71a9941beb40c3" /><Relationship Type="http://schemas.openxmlformats.org/officeDocument/2006/relationships/presProps" Target="/ppt/presProps.xml" Id="R653910829af54211" /><Relationship Type="http://schemas.openxmlformats.org/officeDocument/2006/relationships/tableStyles" Target="/ppt/tableStyles.xml" Id="Rf71251191b6f4a4d" /><Relationship Type="http://schemas.openxmlformats.org/officeDocument/2006/relationships/slide" Target="/ppt/slides/slide1.xml" Id="R00f20a1a73074c79" /><Relationship Type="http://schemas.openxmlformats.org/officeDocument/2006/relationships/slide" Target="/ppt/slides/slide2.xml" Id="Rec29aa221790462c" /><Relationship Type="http://schemas.openxmlformats.org/officeDocument/2006/relationships/slide" Target="/ppt/slides/slide3.xml" Id="Rdf73b9818e454257" /><Relationship Type="http://schemas.openxmlformats.org/officeDocument/2006/relationships/slide" Target="/ppt/slides/slide4.xml" Id="R741ada6fdff544dd" /><Relationship Type="http://schemas.openxmlformats.org/officeDocument/2006/relationships/slide" Target="/ppt/slides/slide5.xml" Id="Rbcbc7112163446c3" /><Relationship Type="http://schemas.openxmlformats.org/officeDocument/2006/relationships/slide" Target="/ppt/slides/slide6.xml" Id="R3eb088c273c94203" /><Relationship Type="http://schemas.openxmlformats.org/officeDocument/2006/relationships/slide" Target="/ppt/slides/slide7.xml" Id="R68f5a5f3c1394e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712dbdf71346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3e19a5a2c5449c" /><Relationship Type="http://schemas.openxmlformats.org/officeDocument/2006/relationships/notesMaster" Target="/ppt/notesMasters/notesMaster1.xml" Id="R31e8907cdc7e46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a545e00efd469c" /><Relationship Type="http://schemas.openxmlformats.org/officeDocument/2006/relationships/notesMaster" Target="/ppt/notesMasters/notesMaster1.xml" Id="Rb3ce430f0dc449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65e9029d9a47ec" /><Relationship Type="http://schemas.openxmlformats.org/officeDocument/2006/relationships/notesMaster" Target="/ppt/notesMasters/notesMaster1.xml" Id="Rf845eb38b6c64d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77e5a47a7c44f5" /><Relationship Type="http://schemas.openxmlformats.org/officeDocument/2006/relationships/notesMaster" Target="/ppt/notesMasters/notesMaster1.xml" Id="R01da43333c4b44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a4f2bef47a4bef" /><Relationship Type="http://schemas.openxmlformats.org/officeDocument/2006/relationships/notesMaster" Target="/ppt/notesMasters/notesMaster1.xml" Id="Rfa84cf7682674b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9c1b3d376948e1" /><Relationship Type="http://schemas.openxmlformats.org/officeDocument/2006/relationships/notesMaster" Target="/ppt/notesMasters/notesMaster1.xml" Id="Rb854ca85badd418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41d02e96b94087" /><Relationship Type="http://schemas.openxmlformats.org/officeDocument/2006/relationships/notesMaster" Target="/ppt/notesMasters/notesMaster1.xml" Id="R333ee87bb60146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I am Pawan Suryakant Tiwari from TE Computer Engineering, division C, roll number 53. My IDEA LAB-V project is GridPulse, developed under the guidance of Dr. Uma Goradiya. The idea combines electricity consumption awareness with a clear support workflow for consumers and utility staff.</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begins before a complaint. Consumers make electricity-use decisions throughout the month but may only examine expenditure when the bill arrives. An unusual bill creates questions, and obtaining support takes coordination. Staff also need to follow pending cases and upcoming appointments. GridPulse addresses this complete journey under the Urban System theme.</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Digital complaint portals already exist. MSEDCL, for example, provides billing history and service requests. Smart-meter research also covers forecasting and load analytics. The opportunity in my project is to connect these activities in one demonstrable journey: understand usage, compare a bill, raise a ticket and attend scheduled support. I am not claiming that existing utilities have no digital complaint services.</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a:p xmlns:a="http://schemas.openxmlformats.org/drawingml/2006/main">
            <a:r>
              <a:t>Existing-system reference: https://wssebill.mahadiscom.in/wss/images/WssHelp/Web_Self_Service_%28WSS%29.htm</a:t>
            </a:r>
          </a:p>
          <a:p xmlns:a="http://schemas.openxmlformats.org/drawingml/2006/main">
            <a:r>
              <a:t>Literature: https://arxiv.org/abs/1802.04117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GridPulse links four activities. First, the consumer sees live simulated readings and a tariff-based monthly estimate. Second, the consumer sets a budget and receives rule-based suggestions. Third, the system compares an entered bill with the estimate and flags an absolute variance of at least 150 rupees. Finally, the consumer gets a complaint token and appointment. The mode locks four hours before the slot, with offline as the default. The intended two-hour reminder call remains a future integration.</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screenshots from the working local prototype. The citizen view shows the live meter simulation alongside the cost estimate. In the captured example, the monthly estimate rounds to 1,104 rupees while the entered sample invoice is 1,680 rupees. The unrounded estimate is 1,103.75, so the variance is 576.25 rupees and the interface offers a dispute shortcut. The readings are simulated. The current forecast uses a seven-day average and illustrative tariff slabs, rather than a trained AI model.</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utility dashboard brings complaint categories, locality demand and support workload into one view. Staff can open the case queue, assign support and inspect consultation schedules. These charts use sample operational data. All 22 targeted checks passed, covering tariff points, bill-variance boundaries, login behaviour, complaints and appointment locking. This supports the basic software demonstration. The next steps are measured sensor integration, secure authentication, durable data storage and reliable reminder delivery.</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I welcome your questions and feedback on the idea, the demonstrated workflow and the next development steps.</a:t>
            </a:r>
          </a:p>
          <a:p xmlns:a="http://schemas.openxmlformats.org/drawingml/2006/main">
            <a:r>
              <a:t/>
            </a:r>
          </a:p>
          <a:p xmlns:a="http://schemas.openxmlformats.org/drawingml/2006/main">
            <a:r>
              <a:t>Source: C:/Pawan/College/IdeaLab/output/GridPulse_Idea_Lab_Report_Pawan_Tiwari.docx. Screenshots: local GridPulse prototype, captured 12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41bcc194044c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dc2468e30df41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9e02b06e35c495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e2f54820d0e482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9ba71e1245d470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780f6a921b49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D5DA5C-585A-4548-9313-3A8BAC4BDB6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608F9F8-6921-41AB-8BA5-ACBE45713B3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C3A9C80-5A2D-41B0-B3D1-B92BA4FBB1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A98A15-B015-4E59-8BA8-8C5E75AA9C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BA48E28-A75C-428F-8983-4C5569D0971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7E8516E-70BE-4468-80CF-EB7A9BDE50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8961A6E-45DA-4F1B-A02E-FC61DFCCD1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08959C4-8B5D-423D-99B9-ADC5DB6AEC2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02B187-A41C-4C11-8C77-A709FAD5BC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F37A061-9A6F-47E4-BE93-20A546DA626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ee29b22f3e430c" /><Relationship Type="http://schemas.openxmlformats.org/officeDocument/2006/relationships/slideLayout" Target="/ppt/slideLayouts/slideLayout1.xml" Id="R65a75c0bfb5e47e6" /><Relationship Type="http://schemas.openxmlformats.org/officeDocument/2006/relationships/slideLayout" Target="/ppt/slideLayouts/slideLayout2.xml" Id="R41101b757001460d" /><Relationship Type="http://schemas.openxmlformats.org/officeDocument/2006/relationships/slideLayout" Target="/ppt/slideLayouts/slideLayout3.xml" Id="R01de5de898bf44dc" /><Relationship Type="http://schemas.openxmlformats.org/officeDocument/2006/relationships/slideLayout" Target="/ppt/slideLayouts/slideLayout4.xml" Id="R3ca4dbdc42134ad3" /><Relationship Type="http://schemas.openxmlformats.org/officeDocument/2006/relationships/slideLayout" Target="/ppt/slideLayouts/slideLayout5.xml" Id="R6470ce51185f45cc" /><Relationship Type="http://schemas.openxmlformats.org/officeDocument/2006/relationships/slideLayout" Target="/ppt/slideLayouts/slideLayout6.xml" Id="Rcceeb89540454a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a75c0bfb5e47e6"/>
    <p:sldLayoutId xmlns:r="http://schemas.openxmlformats.org/officeDocument/2006/relationships" id="2147483650" r:id="R41101b757001460d"/>
    <p:sldLayoutId xmlns:r="http://schemas.openxmlformats.org/officeDocument/2006/relationships" id="2147483651" r:id="R01de5de898bf44dc"/>
    <p:sldLayoutId xmlns:r="http://schemas.openxmlformats.org/officeDocument/2006/relationships" id="2147483652" r:id="R3ca4dbdc42134ad3"/>
    <p:sldLayoutId xmlns:r="http://schemas.openxmlformats.org/officeDocument/2006/relationships" id="2147483653" r:id="R6470ce51185f45cc"/>
    <p:sldLayoutId xmlns:r="http://schemas.openxmlformats.org/officeDocument/2006/relationships" id="2147483654" r:id="Rcceeb89540454a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d605fb35d174b7a" /><Relationship Type="http://schemas.openxmlformats.org/officeDocument/2006/relationships/image" Target="/ppt/media/image.jpeg" Id="R2143ca2bb99248ac" /><Relationship Type="http://schemas.openxmlformats.org/officeDocument/2006/relationships/notesSlide" Target="/ppt/notesSlides/notesSlide1.xml" Id="R1b47e3d86cee46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ea227c9d9384934" /><Relationship Type="http://schemas.openxmlformats.org/officeDocument/2006/relationships/notesSlide" Target="/ppt/notesSlides/notesSlide2.xml" Id="R6a6ab577f67c4d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80f0b00789641f1" /><Relationship Type="http://schemas.openxmlformats.org/officeDocument/2006/relationships/notesSlide" Target="/ppt/notesSlides/notesSlide3.xml" Id="Ra2c662c13fb545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c9fa40fbcc4c76" /><Relationship Type="http://schemas.openxmlformats.org/officeDocument/2006/relationships/notesSlide" Target="/ppt/notesSlides/notesSlide4.xml" Id="Rbb375a2c7f954b7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a52a96f2b4341a6" /><Relationship Type="http://schemas.openxmlformats.org/officeDocument/2006/relationships/image" Target="/ppt/media/image.png" Id="R2a5df1fc15b64c62" /><Relationship Type="http://schemas.openxmlformats.org/officeDocument/2006/relationships/image" Target="/ppt/media/image2.png" Id="R45160c94149a4a0c" /><Relationship Type="http://schemas.openxmlformats.org/officeDocument/2006/relationships/notesSlide" Target="/ppt/notesSlides/notesSlide5.xml" Id="R0a7d8f04f0af40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59ce9fc44d64224" /><Relationship Type="http://schemas.openxmlformats.org/officeDocument/2006/relationships/image" Target="/ppt/media/image3.png" Id="Re911fb8a611d4386" /><Relationship Type="http://schemas.openxmlformats.org/officeDocument/2006/relationships/notesSlide" Target="/ppt/notesSlides/notesSlide6.xml" Id="Rd713474b8a0547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de0e28d0794647" /><Relationship Type="http://schemas.openxmlformats.org/officeDocument/2006/relationships/notesSlide" Target="/ppt/notesSlides/notesSlide7.xml" Id="Rf92793afc86141cf" /></Relationships>
</file>

<file path=ppt/slides/slide1.xml><?xml version="1.0" encoding="utf-8"?>
<p:sld xmlns:p="http://schemas.openxmlformats.org/presentationml/2006/main">
  <p:cSld>
    <p:bg>
      <p:bgPr>
        <a:solidFill xmlns:a="http://schemas.openxmlformats.org/drawingml/2006/main">
          <a:srgbClr val="173E42"/>
        </a:solidFill>
      </p:bgPr>
    </p:bg>
    <p:spTree>
      <p:nvGrpSpPr>
        <p:cNvPr id="1" name=""/>
        <p:cNvGrpSpPr/>
        <p:nvPr/>
      </p:nvGrpSpPr>
      <p:grpSpPr>
        <a:xfrm xmlns:a="http://schemas.openxmlformats.org/drawingml/2006/main"/>
      </p:grpSpPr>
      <p:sp>
        <p:nvSpPr>
          <p:cNvPr id="9" name="1 / 7">
            <a:extLst xmlns:a="http://schemas.openxmlformats.org/drawingml/2006/main">
              <a:ext uri="{FF2B5EF4-FFF2-40B4-BE49-F238E27FC236}">
                <a16:creationId xmlns:a16="http://schemas.microsoft.com/office/drawing/2014/main" id="{26D01E13-4E93-4FD9-968B-5EF2B3A833D4}"/>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CEDBD6"/>
                </a:solidFill>
                <a:latin typeface="Arial"/>
                <a:ea typeface="Arial"/>
                <a:cs typeface="Arial"/>
              </a:defRPr>
            </a:defPPr>
          </a:lstStyle>
          <a:p xmlns:a="http://schemas.openxmlformats.org/drawingml/2006/main">
            <a:pPr algn="r">
              <a:defRPr sz="1200" b="0">
                <a:solidFill>
                  <a:srgbClr val="CEDBD6"/>
                </a:solidFill>
                <a:latin typeface="Arial"/>
                <a:ea typeface="Arial"/>
                <a:cs typeface="Arial"/>
              </a:defRPr>
            </a:pPr>
            <a:r>
              <a:rPr sz="1200" b="0">
                <a:solidFill>
                  <a:srgbClr val="CEDBD6"/>
                </a:solidFill>
                <a:latin typeface="Arial"/>
                <a:ea typeface="Arial"/>
                <a:cs typeface="Arial"/>
              </a:rPr>
              <a:t>1 / 7</a:t>
            </a:r>
          </a:p>
        </p:txBody>
      </p:sp>
      <p:pic>
        <p:nvPicPr>
          <p:cNvPr id="2" name="">
            <a:extLst xmlns:a="http://schemas.openxmlformats.org/drawingml/2006/main">
              <a:ext uri="{FF2B5EF4-FFF2-40B4-BE49-F238E27FC236}">
                <a16:creationId xmlns:a16="http://schemas.microsoft.com/office/drawing/2014/main" id="{A157ACB4-FF1D-4B22-9250-76E21B3A2738}"/>
              </a:ext>
            </a:extLst>
          </p:cNvPr>
          <p:cNvPicPr>
            <a:picLocks xmlns:a="http://schemas.openxmlformats.org/drawingml/2006/main" noChangeAspect="1"/>
          </p:cNvPicPr>
          <p:nvPr/>
        </p:nvPicPr>
        <p:blipFill>
          <a:blip xmlns:r="http://schemas.openxmlformats.org/officeDocument/2006/relationships" xmlns:a="http://schemas.openxmlformats.org/drawingml/2006/main" r:embed="R2143ca2bb99248ac"/>
          <a:stretch xmlns:a="http://schemas.openxmlformats.org/drawingml/2006/main"/>
        </p:blipFill>
        <p:spPr>
          <a:xfrm xmlns:a="http://schemas.openxmlformats.org/drawingml/2006/main">
            <a:off x="613059" y="304800"/>
            <a:ext cx="6184332" cy="1419225"/>
          </a:xfrm>
          <a:prstGeom xmlns:a="http://schemas.openxmlformats.org/drawingml/2006/main" prst="rect">
            <a:avLst/>
          </a:prstGeom>
        </p:spPr>
      </p:pic>
      <p:sp>
        <p:nvSpPr>
          <p:cNvPr id="3" name="GridPulse">
            <a:extLst xmlns:a="http://schemas.openxmlformats.org/drawingml/2006/main">
              <a:ext uri="{FF2B5EF4-FFF2-40B4-BE49-F238E27FC236}">
                <a16:creationId xmlns:a16="http://schemas.microsoft.com/office/drawing/2014/main" id="{CC77397B-3E86-4201-860C-0447DFED93A5}"/>
              </a:ext>
            </a:extLst>
          </p:cNvPr>
          <p:cNvSpPr>
            <a:spLocks xmlns:a="http://schemas.openxmlformats.org/drawingml/2006/main" noGrp="1"/>
          </p:cNvSpPr>
          <p:nvPr/>
        </p:nvSpPr>
        <p:spPr>
          <a:xfrm xmlns:a="http://schemas.openxmlformats.org/drawingml/2006/main">
            <a:off x="609600" y="19716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150" b="1">
                <a:solidFill>
                  <a:srgbClr val="E6A228"/>
                </a:solidFill>
                <a:latin typeface="Arial"/>
                <a:ea typeface="Arial"/>
                <a:cs typeface="Arial"/>
              </a:defRPr>
            </a:defPPr>
          </a:lstStyle>
          <a:p xmlns:a="http://schemas.openxmlformats.org/drawingml/2006/main">
            <a:pPr algn="l">
              <a:defRPr sz="6150" b="1">
                <a:solidFill>
                  <a:srgbClr val="E6A228"/>
                </a:solidFill>
                <a:latin typeface="Arial"/>
                <a:ea typeface="Arial"/>
                <a:cs typeface="Arial"/>
              </a:defRPr>
            </a:pPr>
            <a:r>
              <a:rPr sz="6150" b="1">
                <a:solidFill>
                  <a:srgbClr val="E6A228"/>
                </a:solidFill>
                <a:latin typeface="Arial"/>
                <a:ea typeface="Arial"/>
                <a:cs typeface="Arial"/>
              </a:rPr>
              <a:t>GridPulse</a:t>
            </a:r>
          </a:p>
        </p:txBody>
      </p:sp>
      <p:sp>
        <p:nvSpPr>
          <p:cNvPr id="4" name="Urban Smart Electricity Consumer Assistance&#10;and Energy Monitoring">
            <a:extLst xmlns:a="http://schemas.openxmlformats.org/drawingml/2006/main">
              <a:ext uri="{FF2B5EF4-FFF2-40B4-BE49-F238E27FC236}">
                <a16:creationId xmlns:a16="http://schemas.microsoft.com/office/drawing/2014/main" id="{EABEAB26-91EA-49B7-8D55-0E05C5795FD4}"/>
              </a:ext>
            </a:extLst>
          </p:cNvPr>
          <p:cNvSpPr>
            <a:spLocks xmlns:a="http://schemas.openxmlformats.org/drawingml/2006/main" noGrp="1"/>
          </p:cNvSpPr>
          <p:nvPr/>
        </p:nvSpPr>
        <p:spPr>
          <a:xfrm xmlns:a="http://schemas.openxmlformats.org/drawingml/2006/main">
            <a:off x="609600" y="310515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Urban Smart Electricity Consumer Assistance</a:t>
            </a:r>
          </a:p>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and Energy Monitoring System</a:t>
            </a:r>
          </a:p>
        </p:txBody>
      </p:sp>
      <p:sp>
        <p:nvSpPr>
          <p:cNvPr id="5" name="Pawan Suryakant Tiwari">
            <a:extLst xmlns:a="http://schemas.openxmlformats.org/drawingml/2006/main">
              <a:ext uri="{FF2B5EF4-FFF2-40B4-BE49-F238E27FC236}">
                <a16:creationId xmlns:a16="http://schemas.microsoft.com/office/drawing/2014/main" id="{C3568515-9A4E-468A-BCBE-A38D0DD9266C}"/>
              </a:ext>
            </a:extLst>
          </p:cNvPr>
          <p:cNvSpPr>
            <a:spLocks xmlns:a="http://schemas.openxmlformats.org/drawingml/2006/main" noGrp="1"/>
          </p:cNvSpPr>
          <p:nvPr/>
        </p:nvSpPr>
        <p:spPr>
          <a:xfrm xmlns:a="http://schemas.openxmlformats.org/drawingml/2006/main">
            <a:off x="609600" y="4438650"/>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Pawan Suryakant Tiwari</a:t>
            </a:r>
          </a:p>
        </p:txBody>
      </p:sp>
      <p:sp>
        <p:nvSpPr>
          <p:cNvPr id="6" name="TE CMPN/C&#10;Roll No. 53">
            <a:extLst xmlns:a="http://schemas.openxmlformats.org/drawingml/2006/main">
              <a:ext uri="{FF2B5EF4-FFF2-40B4-BE49-F238E27FC236}">
                <a16:creationId xmlns:a16="http://schemas.microsoft.com/office/drawing/2014/main" id="{7E120152-F3F7-4C61-90D0-9ADEBA719394}"/>
              </a:ext>
            </a:extLst>
          </p:cNvPr>
          <p:cNvSpPr>
            <a:spLocks xmlns:a="http://schemas.openxmlformats.org/drawingml/2006/main" noGrp="1"/>
          </p:cNvSpPr>
          <p:nvPr/>
        </p:nvSpPr>
        <p:spPr>
          <a:xfrm xmlns:a="http://schemas.openxmlformats.org/drawingml/2006/main">
            <a:off x="609600" y="4914900"/>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EDBD6"/>
                </a:solidFill>
                <a:latin typeface="Arial"/>
                <a:ea typeface="Arial"/>
                <a:cs typeface="Arial"/>
              </a:defRPr>
            </a:defPPr>
          </a:lstStyle>
          <a:p xmlns:a="http://schemas.openxmlformats.org/drawingml/2006/main">
            <a:pPr algn="l">
              <a:defRPr sz="1875" b="0">
                <a:solidFill>
                  <a:srgbClr val="CEDBD6"/>
                </a:solidFill>
                <a:latin typeface="Arial"/>
                <a:ea typeface="Arial"/>
                <a:cs typeface="Arial"/>
              </a:defRPr>
            </a:pPr>
            <a:r>
              <a:rPr sz="1875" b="0">
                <a:solidFill>
                  <a:srgbClr val="CEDBD6"/>
                </a:solidFill>
                <a:latin typeface="Arial"/>
                <a:ea typeface="Arial"/>
                <a:cs typeface="Arial"/>
              </a:rPr>
              <a:t>TE CMPN/C</a:t>
            </a:r>
          </a:p>
          <a:p xmlns:a="http://schemas.openxmlformats.org/drawingml/2006/main">
            <a:pPr algn="l">
              <a:defRPr sz="1875" b="0">
                <a:solidFill>
                  <a:srgbClr val="CEDBD6"/>
                </a:solidFill>
                <a:latin typeface="Arial"/>
                <a:ea typeface="Arial"/>
                <a:cs typeface="Arial"/>
              </a:defRPr>
            </a:pPr>
            <a:r>
              <a:rPr sz="1875" b="0">
                <a:solidFill>
                  <a:srgbClr val="CEDBD6"/>
                </a:solidFill>
                <a:latin typeface="Arial"/>
                <a:ea typeface="Arial"/>
                <a:cs typeface="Arial"/>
              </a:rPr>
              <a:t>Roll No. 53</a:t>
            </a:r>
          </a:p>
        </p:txBody>
      </p:sp>
      <p:sp>
        <p:nvSpPr>
          <p:cNvPr id="7" name="Guide: Dr. Uma Goradiya&#10;IDEA LAB-V&#10;Course Code 12212506">
            <a:extLst xmlns:a="http://schemas.openxmlformats.org/drawingml/2006/main">
              <a:ext uri="{FF2B5EF4-FFF2-40B4-BE49-F238E27FC236}">
                <a16:creationId xmlns:a16="http://schemas.microsoft.com/office/drawing/2014/main" id="{AE6F4F14-0AC7-4DD2-BC11-E389F99685BC}"/>
              </a:ext>
            </a:extLst>
          </p:cNvPr>
          <p:cNvSpPr>
            <a:spLocks xmlns:a="http://schemas.openxmlformats.org/drawingml/2006/main" noGrp="1"/>
          </p:cNvSpPr>
          <p:nvPr/>
        </p:nvSpPr>
        <p:spPr>
          <a:xfrm xmlns:a="http://schemas.openxmlformats.org/drawingml/2006/main">
            <a:off x="6000750" y="4476750"/>
            <a:ext cx="5524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EDBD6"/>
                </a:solidFill>
                <a:latin typeface="Arial"/>
                <a:ea typeface="Arial"/>
                <a:cs typeface="Arial"/>
              </a:defRPr>
            </a:defPPr>
          </a:lstStyle>
          <a:p xmlns:a="http://schemas.openxmlformats.org/drawingml/2006/main">
            <a:pPr algn="l">
              <a:defRPr sz="1800" b="0">
                <a:solidFill>
                  <a:srgbClr val="CEDBD6"/>
                </a:solidFill>
                <a:latin typeface="Arial"/>
                <a:ea typeface="Arial"/>
                <a:cs typeface="Arial"/>
              </a:defRPr>
            </a:pPr>
            <a:r>
              <a:rPr sz="1800" b="0">
                <a:solidFill>
                  <a:srgbClr val="CEDBD6"/>
                </a:solidFill>
                <a:latin typeface="Arial"/>
                <a:ea typeface="Arial"/>
                <a:cs typeface="Arial"/>
              </a:rPr>
              <a:t>Guide: Dr. Uma Goradiya</a:t>
            </a:r>
          </a:p>
          <a:p xmlns:a="http://schemas.openxmlformats.org/drawingml/2006/main">
            <a:pPr algn="l">
              <a:defRPr sz="1800" b="0">
                <a:solidFill>
                  <a:srgbClr val="CEDBD6"/>
                </a:solidFill>
                <a:latin typeface="Arial"/>
                <a:ea typeface="Arial"/>
                <a:cs typeface="Arial"/>
              </a:defRPr>
            </a:pPr>
            <a:r>
              <a:rPr sz="1800" b="0">
                <a:solidFill>
                  <a:srgbClr val="CEDBD6"/>
                </a:solidFill>
                <a:latin typeface="Arial"/>
                <a:ea typeface="Arial"/>
                <a:cs typeface="Arial"/>
              </a:rPr>
              <a:t>IDEA LAB-V</a:t>
            </a:r>
          </a:p>
          <a:p xmlns:a="http://schemas.openxmlformats.org/drawingml/2006/main">
            <a:pPr algn="l">
              <a:defRPr sz="1800" b="0">
                <a:solidFill>
                  <a:srgbClr val="CEDBD6"/>
                </a:solidFill>
                <a:latin typeface="Arial"/>
                <a:ea typeface="Arial"/>
                <a:cs typeface="Arial"/>
              </a:defRPr>
            </a:pPr>
            <a:r>
              <a:rPr sz="1800" b="0">
                <a:solidFill>
                  <a:srgbClr val="CEDBD6"/>
                </a:solidFill>
                <a:latin typeface="Arial"/>
                <a:ea typeface="Arial"/>
                <a:cs typeface="Arial"/>
              </a:rPr>
              <a:t>Course Code 12212506</a:t>
            </a:r>
          </a:p>
        </p:txBody>
      </p:sp>
      <p:sp>
        <p:nvSpPr>
          <p:cNvPr id="8" name="Theme: Urban System&#10;Academic Year 2026-2027">
            <a:extLst xmlns:a="http://schemas.openxmlformats.org/drawingml/2006/main">
              <a:ext uri="{FF2B5EF4-FFF2-40B4-BE49-F238E27FC236}">
                <a16:creationId xmlns:a16="http://schemas.microsoft.com/office/drawing/2014/main" id="{FFE982A9-FF15-4A01-8070-63D67E3BC9E2}"/>
              </a:ext>
            </a:extLst>
          </p:cNvPr>
          <p:cNvSpPr>
            <a:spLocks xmlns:a="http://schemas.openxmlformats.org/drawingml/2006/main" noGrp="1"/>
          </p:cNvSpPr>
          <p:nvPr/>
        </p:nvSpPr>
        <p:spPr>
          <a:xfrm xmlns:a="http://schemas.openxmlformats.org/drawingml/2006/main">
            <a:off x="6000750" y="5419725"/>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EDBD6"/>
                </a:solidFill>
                <a:latin typeface="Arial"/>
                <a:ea typeface="Arial"/>
                <a:cs typeface="Arial"/>
              </a:defRPr>
            </a:defPPr>
          </a:lstStyle>
          <a:p xmlns:a="http://schemas.openxmlformats.org/drawingml/2006/main">
            <a:pPr algn="l">
              <a:defRPr sz="1800" b="0">
                <a:solidFill>
                  <a:srgbClr val="CEDBD6"/>
                </a:solidFill>
                <a:latin typeface="Arial"/>
                <a:ea typeface="Arial"/>
                <a:cs typeface="Arial"/>
              </a:defRPr>
            </a:pPr>
            <a:r>
              <a:rPr sz="1800" b="0">
                <a:solidFill>
                  <a:srgbClr val="CEDBD6"/>
                </a:solidFill>
                <a:latin typeface="Arial"/>
                <a:ea typeface="Arial"/>
                <a:cs typeface="Arial"/>
              </a:rPr>
              <a:t>Theme: Urban System</a:t>
            </a:r>
          </a:p>
          <a:p xmlns:a="http://schemas.openxmlformats.org/drawingml/2006/main">
            <a:pPr algn="l">
              <a:defRPr sz="1800" b="0">
                <a:solidFill>
                  <a:srgbClr val="CEDBD6"/>
                </a:solidFill>
                <a:latin typeface="Arial"/>
                <a:ea typeface="Arial"/>
                <a:cs typeface="Arial"/>
              </a:defRPr>
            </a:pPr>
            <a:r>
              <a:rPr sz="1800" b="0">
                <a:solidFill>
                  <a:srgbClr val="CEDBD6"/>
                </a:solidFill>
                <a:latin typeface="Arial"/>
                <a:ea typeface="Arial"/>
                <a:cs typeface="Arial"/>
              </a:rPr>
              <a:t>Academic Year 2026-2027</a:t>
            </a:r>
          </a:p>
        </p:txBody>
      </p:sp>
    </p:spTree>
    <p:extLst>
      <p:ext uri="{BB962C8B-B14F-4D97-AF65-F5344CB8AC3E}">
        <p14:creationId xmlns:p14="http://schemas.microsoft.com/office/powerpoint/2010/main" val="377771591"/>
      </p:ext>
    </p:extLst>
  </p:cSld>
</p:sld>
</file>

<file path=ppt/slides/slide2.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9" name="The electricity consumer problem">
            <a:extLst xmlns:a="http://schemas.openxmlformats.org/drawingml/2006/main">
              <a:ext uri="{FF2B5EF4-FFF2-40B4-BE49-F238E27FC236}">
                <a16:creationId xmlns:a16="http://schemas.microsoft.com/office/drawing/2014/main" id="{09F72FEC-9B27-4A7E-9089-67613EC4146D}"/>
              </a:ext>
            </a:extLst>
          </p:cNvPr>
          <p:cNvSpPr>
            <a:spLocks xmlns:a="http://schemas.openxmlformats.org/drawingml/2006/main" noGrp="1"/>
          </p:cNvSpPr>
          <p:nvPr/>
        </p:nvSpPr>
        <p:spPr>
          <a:xfrm xmlns:a="http://schemas.openxmlformats.org/drawingml/2006/main">
            <a:off x="609600" y="4572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42"/>
                </a:solidFill>
                <a:latin typeface="Arial"/>
                <a:ea typeface="Arial"/>
                <a:cs typeface="Arial"/>
              </a:defRPr>
            </a:defPPr>
          </a:lstStyle>
          <a:p xmlns:a="http://schemas.openxmlformats.org/drawingml/2006/main">
            <a:pPr algn="l">
              <a:defRPr sz="3300" b="1">
                <a:solidFill>
                  <a:srgbClr val="173E42"/>
                </a:solidFill>
                <a:latin typeface="Arial"/>
                <a:ea typeface="Arial"/>
                <a:cs typeface="Arial"/>
              </a:defRPr>
            </a:pPr>
            <a:r>
              <a:rPr sz="3300" b="1">
                <a:solidFill>
                  <a:srgbClr val="173E42"/>
                </a:solidFill>
                <a:latin typeface="Arial"/>
                <a:ea typeface="Arial"/>
                <a:cs typeface="Arial"/>
              </a:rPr>
              <a:t>The electricity consumer problem</a:t>
            </a:r>
          </a:p>
        </p:txBody>
      </p:sp>
      <p:sp>
        <p:nvSpPr>
          <p:cNvPr id="2" name="2 / 7">
            <a:extLst xmlns:a="http://schemas.openxmlformats.org/drawingml/2006/main">
              <a:ext uri="{FF2B5EF4-FFF2-40B4-BE49-F238E27FC236}">
                <a16:creationId xmlns:a16="http://schemas.microsoft.com/office/drawing/2014/main" id="{3A02516D-3366-4705-A48E-BC2CB878C3A0}"/>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869"/>
                </a:solidFill>
                <a:latin typeface="Arial"/>
                <a:ea typeface="Arial"/>
                <a:cs typeface="Arial"/>
              </a:defRPr>
            </a:defPPr>
          </a:lstStyle>
          <a:p xmlns:a="http://schemas.openxmlformats.org/drawingml/2006/main">
            <a:pPr algn="r">
              <a:defRPr sz="1200" b="0">
                <a:solidFill>
                  <a:srgbClr val="536869"/>
                </a:solidFill>
                <a:latin typeface="Arial"/>
                <a:ea typeface="Arial"/>
                <a:cs typeface="Arial"/>
              </a:defRPr>
            </a:pPr>
            <a:r>
              <a:rPr sz="1200" b="0">
                <a:solidFill>
                  <a:srgbClr val="536869"/>
                </a:solidFill>
                <a:latin typeface="Arial"/>
                <a:ea typeface="Arial"/>
                <a:cs typeface="Arial"/>
              </a:rPr>
              <a:t>2 / 7</a:t>
            </a:r>
          </a:p>
        </p:txBody>
      </p:sp>
      <p:sp>
        <p:nvSpPr>
          <p:cNvPr id="3" name="A monthly bill arrives.&#10;The consumer has questions.">
            <a:extLst xmlns:a="http://schemas.openxmlformats.org/drawingml/2006/main">
              <a:ext uri="{FF2B5EF4-FFF2-40B4-BE49-F238E27FC236}">
                <a16:creationId xmlns:a16="http://schemas.microsoft.com/office/drawing/2014/main" id="{55D1CF62-B80D-47EA-B9BD-5B4F0DFD1551}"/>
              </a:ext>
            </a:extLst>
          </p:cNvPr>
          <p:cNvSpPr>
            <a:spLocks xmlns:a="http://schemas.openxmlformats.org/drawingml/2006/main" noGrp="1"/>
          </p:cNvSpPr>
          <p:nvPr/>
        </p:nvSpPr>
        <p:spPr>
          <a:xfrm xmlns:a="http://schemas.openxmlformats.org/drawingml/2006/main">
            <a:off x="609600" y="1638300"/>
            <a:ext cx="10477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73E42"/>
                </a:solidFill>
                <a:latin typeface="Arial"/>
                <a:ea typeface="Arial"/>
                <a:cs typeface="Arial"/>
              </a:defRPr>
            </a:defPPr>
          </a:lstStyle>
          <a:p xmlns:a="http://schemas.openxmlformats.org/drawingml/2006/main">
            <a:pPr algn="l">
              <a:defRPr sz="3675" b="1">
                <a:solidFill>
                  <a:srgbClr val="173E42"/>
                </a:solidFill>
                <a:latin typeface="Arial"/>
                <a:ea typeface="Arial"/>
                <a:cs typeface="Arial"/>
              </a:defRPr>
            </a:pPr>
            <a:r>
              <a:rPr sz="3675" b="1">
                <a:solidFill>
                  <a:srgbClr val="173E42"/>
                </a:solidFill>
                <a:latin typeface="Arial"/>
                <a:ea typeface="Arial"/>
                <a:cs typeface="Arial"/>
              </a:rPr>
              <a:t>A monthly bill arrives.</a:t>
            </a:r>
          </a:p>
          <a:p xmlns:a="http://schemas.openxmlformats.org/drawingml/2006/main">
            <a:pPr algn="l">
              <a:defRPr sz="3675" b="1">
                <a:solidFill>
                  <a:srgbClr val="173E42"/>
                </a:solidFill>
                <a:latin typeface="Arial"/>
                <a:ea typeface="Arial"/>
                <a:cs typeface="Arial"/>
              </a:defRPr>
            </a:pPr>
            <a:r>
              <a:rPr sz="3675" b="1">
                <a:solidFill>
                  <a:srgbClr val="173E42"/>
                </a:solidFill>
                <a:latin typeface="Arial"/>
                <a:ea typeface="Arial"/>
                <a:cs typeface="Arial"/>
              </a:rPr>
              <a:t>The consumer has questions.</a:t>
            </a:r>
          </a:p>
        </p:txBody>
      </p:sp>
      <p:sp>
        <p:nvSpPr>
          <p:cNvPr id="4" name="Household experience">
            <a:extLst xmlns:a="http://schemas.openxmlformats.org/drawingml/2006/main">
              <a:ext uri="{FF2B5EF4-FFF2-40B4-BE49-F238E27FC236}">
                <a16:creationId xmlns:a16="http://schemas.microsoft.com/office/drawing/2014/main" id="{65475ED3-83FD-4A02-BCB0-B08E4AA856BB}"/>
              </a:ext>
            </a:extLst>
          </p:cNvPr>
          <p:cNvSpPr>
            <a:spLocks xmlns:a="http://schemas.openxmlformats.org/drawingml/2006/main" noGrp="1"/>
          </p:cNvSpPr>
          <p:nvPr/>
        </p:nvSpPr>
        <p:spPr>
          <a:xfrm xmlns:a="http://schemas.openxmlformats.org/drawingml/2006/main">
            <a:off x="609600" y="3429000"/>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3E42"/>
                </a:solidFill>
                <a:latin typeface="Arial"/>
                <a:ea typeface="Arial"/>
                <a:cs typeface="Arial"/>
              </a:defRPr>
            </a:defPPr>
          </a:lstStyle>
          <a:p xmlns:a="http://schemas.openxmlformats.org/drawingml/2006/main">
            <a:pPr algn="l">
              <a:defRPr sz="2100" b="1">
                <a:solidFill>
                  <a:srgbClr val="173E42"/>
                </a:solidFill>
                <a:latin typeface="Arial"/>
                <a:ea typeface="Arial"/>
                <a:cs typeface="Arial"/>
              </a:defRPr>
            </a:pPr>
            <a:r>
              <a:rPr sz="2100" b="1">
                <a:solidFill>
                  <a:srgbClr val="173E42"/>
                </a:solidFill>
                <a:latin typeface="Arial"/>
                <a:ea typeface="Arial"/>
                <a:cs typeface="Arial"/>
              </a:rPr>
              <a:t>Household experience</a:t>
            </a:r>
          </a:p>
        </p:txBody>
      </p:sp>
      <p:sp>
        <p:nvSpPr>
          <p:cNvPr id="5" name="Limited visibility during the month&#10;An unexpected billed amount&#10;T">
            <a:extLst xmlns:a="http://schemas.openxmlformats.org/drawingml/2006/main">
              <a:ext uri="{FF2B5EF4-FFF2-40B4-BE49-F238E27FC236}">
                <a16:creationId xmlns:a16="http://schemas.microsoft.com/office/drawing/2014/main" id="{DB4A6596-C775-4165-8D0B-07F934DD88BD}"/>
              </a:ext>
            </a:extLst>
          </p:cNvPr>
          <p:cNvSpPr>
            <a:spLocks xmlns:a="http://schemas.openxmlformats.org/drawingml/2006/main" noGrp="1"/>
          </p:cNvSpPr>
          <p:nvPr/>
        </p:nvSpPr>
        <p:spPr>
          <a:xfrm xmlns:a="http://schemas.openxmlformats.org/drawingml/2006/main">
            <a:off x="609600" y="4010025"/>
            <a:ext cx="5048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869"/>
                </a:solidFill>
                <a:latin typeface="Arial"/>
                <a:ea typeface="Arial"/>
                <a:cs typeface="Arial"/>
              </a:defRPr>
            </a:defPPr>
          </a:lstStyle>
          <a:p xmlns:a="http://schemas.openxmlformats.org/drawingml/2006/main">
            <a:pPr algn="l">
              <a:defRPr sz="2175" b="0">
                <a:solidFill>
                  <a:srgbClr val="536869"/>
                </a:solidFill>
                <a:latin typeface="Arial"/>
                <a:ea typeface="Arial"/>
                <a:cs typeface="Arial"/>
              </a:defRPr>
            </a:pPr>
            <a:r>
              <a:rPr sz="2175" b="0">
                <a:solidFill>
                  <a:srgbClr val="536869"/>
                </a:solidFill>
                <a:latin typeface="Arial"/>
                <a:ea typeface="Arial"/>
                <a:cs typeface="Arial"/>
              </a:rPr>
              <a:t>Limited visibility during the month</a:t>
            </a:r>
          </a:p>
          <a:p xmlns:a="http://schemas.openxmlformats.org/drawingml/2006/main">
            <a:pPr algn="l">
              <a:defRPr sz="2175" b="0">
                <a:solidFill>
                  <a:srgbClr val="536869"/>
                </a:solidFill>
                <a:latin typeface="Arial"/>
                <a:ea typeface="Arial"/>
                <a:cs typeface="Arial"/>
              </a:defRPr>
            </a:pPr>
            <a:r>
              <a:rPr sz="2175" b="0">
                <a:solidFill>
                  <a:srgbClr val="536869"/>
                </a:solidFill>
                <a:latin typeface="Arial"/>
                <a:ea typeface="Arial"/>
                <a:cs typeface="Arial"/>
              </a:rPr>
              <a:t>An unexpected billed amount</a:t>
            </a:r>
          </a:p>
          <a:p xmlns:a="http://schemas.openxmlformats.org/drawingml/2006/main">
            <a:pPr algn="l">
              <a:defRPr sz="2175" b="0">
                <a:solidFill>
                  <a:srgbClr val="536869"/>
                </a:solidFill>
                <a:latin typeface="Arial"/>
                <a:ea typeface="Arial"/>
                <a:cs typeface="Arial"/>
              </a:defRPr>
            </a:pPr>
            <a:r>
              <a:rPr sz="2175" b="0">
                <a:solidFill>
                  <a:srgbClr val="536869"/>
                </a:solidFill>
                <a:latin typeface="Arial"/>
                <a:ea typeface="Arial"/>
                <a:cs typeface="Arial"/>
              </a:rPr>
              <a:t>Time spent arranging support</a:t>
            </a:r>
          </a:p>
        </p:txBody>
      </p:sp>
      <p:sp>
        <p:nvSpPr>
          <p:cNvPr id="6" name="Utility support workload">
            <a:extLst xmlns:a="http://schemas.openxmlformats.org/drawingml/2006/main">
              <a:ext uri="{FF2B5EF4-FFF2-40B4-BE49-F238E27FC236}">
                <a16:creationId xmlns:a16="http://schemas.microsoft.com/office/drawing/2014/main" id="{9D24D11B-D5FC-459D-ABBF-21BA7AF1268D}"/>
              </a:ext>
            </a:extLst>
          </p:cNvPr>
          <p:cNvSpPr>
            <a:spLocks xmlns:a="http://schemas.openxmlformats.org/drawingml/2006/main" noGrp="1"/>
          </p:cNvSpPr>
          <p:nvPr/>
        </p:nvSpPr>
        <p:spPr>
          <a:xfrm xmlns:a="http://schemas.openxmlformats.org/drawingml/2006/main">
            <a:off x="6619875" y="3429000"/>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3E42"/>
                </a:solidFill>
                <a:latin typeface="Arial"/>
                <a:ea typeface="Arial"/>
                <a:cs typeface="Arial"/>
              </a:defRPr>
            </a:defPPr>
          </a:lstStyle>
          <a:p xmlns:a="http://schemas.openxmlformats.org/drawingml/2006/main">
            <a:pPr algn="l">
              <a:defRPr sz="2100" b="1">
                <a:solidFill>
                  <a:srgbClr val="173E42"/>
                </a:solidFill>
                <a:latin typeface="Arial"/>
                <a:ea typeface="Arial"/>
                <a:cs typeface="Arial"/>
              </a:defRPr>
            </a:pPr>
            <a:r>
              <a:rPr sz="2100" b="1">
                <a:solidFill>
                  <a:srgbClr val="173E42"/>
                </a:solidFill>
                <a:latin typeface="Arial"/>
                <a:ea typeface="Arial"/>
                <a:cs typeface="Arial"/>
              </a:rPr>
              <a:t>Utility support workload</a:t>
            </a:r>
          </a:p>
        </p:txBody>
      </p:sp>
      <p:sp>
        <p:nvSpPr>
          <p:cNvPr id="7" name="Repeated billing queries&#10;Pending cases to track&#10;Appointments and ">
            <a:extLst xmlns:a="http://schemas.openxmlformats.org/drawingml/2006/main">
              <a:ext uri="{FF2B5EF4-FFF2-40B4-BE49-F238E27FC236}">
                <a16:creationId xmlns:a16="http://schemas.microsoft.com/office/drawing/2014/main" id="{ADDDB626-D9A9-41E6-9085-BDDA5FF4DBEB}"/>
              </a:ext>
            </a:extLst>
          </p:cNvPr>
          <p:cNvSpPr>
            <a:spLocks xmlns:a="http://schemas.openxmlformats.org/drawingml/2006/main" noGrp="1"/>
          </p:cNvSpPr>
          <p:nvPr/>
        </p:nvSpPr>
        <p:spPr>
          <a:xfrm xmlns:a="http://schemas.openxmlformats.org/drawingml/2006/main">
            <a:off x="6619875" y="401002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869"/>
                </a:solidFill>
                <a:latin typeface="Arial"/>
                <a:ea typeface="Arial"/>
                <a:cs typeface="Arial"/>
              </a:defRPr>
            </a:defPPr>
          </a:lstStyle>
          <a:p xmlns:a="http://schemas.openxmlformats.org/drawingml/2006/main">
            <a:pPr algn="l">
              <a:defRPr sz="2175" b="0">
                <a:solidFill>
                  <a:srgbClr val="536869"/>
                </a:solidFill>
                <a:latin typeface="Arial"/>
                <a:ea typeface="Arial"/>
                <a:cs typeface="Arial"/>
              </a:defRPr>
            </a:pPr>
            <a:r>
              <a:rPr sz="2175" b="0">
                <a:solidFill>
                  <a:srgbClr val="536869"/>
                </a:solidFill>
                <a:latin typeface="Arial"/>
                <a:ea typeface="Arial"/>
                <a:cs typeface="Arial"/>
              </a:rPr>
              <a:t>Repeated billing queries</a:t>
            </a:r>
          </a:p>
          <a:p xmlns:a="http://schemas.openxmlformats.org/drawingml/2006/main">
            <a:pPr algn="l">
              <a:defRPr sz="2175" b="0">
                <a:solidFill>
                  <a:srgbClr val="536869"/>
                </a:solidFill>
                <a:latin typeface="Arial"/>
                <a:ea typeface="Arial"/>
                <a:cs typeface="Arial"/>
              </a:defRPr>
            </a:pPr>
            <a:r>
              <a:rPr sz="2175" b="0">
                <a:solidFill>
                  <a:srgbClr val="536869"/>
                </a:solidFill>
                <a:latin typeface="Arial"/>
                <a:ea typeface="Arial"/>
                <a:cs typeface="Arial"/>
              </a:rPr>
              <a:t>Pending cases to track</a:t>
            </a:r>
          </a:p>
          <a:p xmlns:a="http://schemas.openxmlformats.org/drawingml/2006/main">
            <a:pPr algn="l">
              <a:defRPr sz="2175" b="0">
                <a:solidFill>
                  <a:srgbClr val="536869"/>
                </a:solidFill>
                <a:latin typeface="Arial"/>
                <a:ea typeface="Arial"/>
                <a:cs typeface="Arial"/>
              </a:defRPr>
            </a:pPr>
            <a:r>
              <a:rPr sz="2175" b="0">
                <a:solidFill>
                  <a:srgbClr val="536869"/>
                </a:solidFill>
                <a:latin typeface="Arial"/>
                <a:ea typeface="Arial"/>
                <a:cs typeface="Arial"/>
              </a:rPr>
              <a:t>Appointments and staff to coordinate</a:t>
            </a:r>
          </a:p>
        </p:txBody>
      </p:sp>
      <p:sp>
        <p:nvSpPr>
          <p:cNvPr id="8" name="Project focus: clearer consumption information and scheduled assi">
            <a:extLst xmlns:a="http://schemas.openxmlformats.org/drawingml/2006/main">
              <a:ext uri="{FF2B5EF4-FFF2-40B4-BE49-F238E27FC236}">
                <a16:creationId xmlns:a16="http://schemas.microsoft.com/office/drawing/2014/main" id="{99A0C7B9-562A-4C2B-80A5-1D75C877411B}"/>
              </a:ext>
            </a:extLst>
          </p:cNvPr>
          <p:cNvSpPr>
            <a:spLocks xmlns:a="http://schemas.openxmlformats.org/drawingml/2006/main" noGrp="1"/>
          </p:cNvSpPr>
          <p:nvPr/>
        </p:nvSpPr>
        <p:spPr>
          <a:xfrm xmlns:a="http://schemas.openxmlformats.org/drawingml/2006/main">
            <a:off x="609600" y="594360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3E42"/>
                </a:solidFill>
                <a:latin typeface="Arial"/>
                <a:ea typeface="Arial"/>
                <a:cs typeface="Arial"/>
              </a:defRPr>
            </a:defPPr>
          </a:lstStyle>
          <a:p xmlns:a="http://schemas.openxmlformats.org/drawingml/2006/main">
            <a:pPr algn="l">
              <a:defRPr sz="1800" b="1">
                <a:solidFill>
                  <a:srgbClr val="173E42"/>
                </a:solidFill>
                <a:latin typeface="Arial"/>
                <a:ea typeface="Arial"/>
                <a:cs typeface="Arial"/>
              </a:defRPr>
            </a:pPr>
            <a:r>
              <a:rPr sz="1800" b="1">
                <a:solidFill>
                  <a:srgbClr val="173E42"/>
                </a:solidFill>
                <a:latin typeface="Arial"/>
                <a:ea typeface="Arial"/>
                <a:cs typeface="Arial"/>
              </a:rPr>
              <a:t>Project focus: clearer consumption information and scheduled assistance</a:t>
            </a:r>
          </a:p>
        </p:txBody>
      </p:sp>
    </p:spTree>
    <p:extLst>
      <p:ext uri="{BB962C8B-B14F-4D97-AF65-F5344CB8AC3E}">
        <p14:creationId xmlns:p14="http://schemas.microsoft.com/office/powerpoint/2010/main" val="732462966"/>
      </p:ext>
    </p:extLst>
  </p:cSld>
</p:sld>
</file>

<file path=ppt/slides/slide3.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9" name="The gap found">
            <a:extLst xmlns:a="http://schemas.openxmlformats.org/drawingml/2006/main">
              <a:ext uri="{FF2B5EF4-FFF2-40B4-BE49-F238E27FC236}">
                <a16:creationId xmlns:a16="http://schemas.microsoft.com/office/drawing/2014/main" id="{DD7CCC47-8C1C-451C-809E-DEAD330142D9}"/>
              </a:ext>
            </a:extLst>
          </p:cNvPr>
          <p:cNvSpPr>
            <a:spLocks xmlns:a="http://schemas.openxmlformats.org/drawingml/2006/main" noGrp="1"/>
          </p:cNvSpPr>
          <p:nvPr/>
        </p:nvSpPr>
        <p:spPr>
          <a:xfrm xmlns:a="http://schemas.openxmlformats.org/drawingml/2006/main">
            <a:off x="609600" y="4572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42"/>
                </a:solidFill>
                <a:latin typeface="Arial"/>
                <a:ea typeface="Arial"/>
                <a:cs typeface="Arial"/>
              </a:defRPr>
            </a:defPPr>
          </a:lstStyle>
          <a:p xmlns:a="http://schemas.openxmlformats.org/drawingml/2006/main">
            <a:pPr algn="l">
              <a:defRPr sz="3300" b="1">
                <a:solidFill>
                  <a:srgbClr val="173E42"/>
                </a:solidFill>
                <a:latin typeface="Arial"/>
                <a:ea typeface="Arial"/>
                <a:cs typeface="Arial"/>
              </a:defRPr>
            </a:pPr>
            <a:r>
              <a:rPr sz="3300" b="1">
                <a:solidFill>
                  <a:srgbClr val="173E42"/>
                </a:solidFill>
                <a:latin typeface="Arial"/>
                <a:ea typeface="Arial"/>
                <a:cs typeface="Arial"/>
              </a:rPr>
              <a:t>The gap found</a:t>
            </a:r>
          </a:p>
        </p:txBody>
      </p:sp>
      <p:sp>
        <p:nvSpPr>
          <p:cNvPr id="2" name="3 / 7">
            <a:extLst xmlns:a="http://schemas.openxmlformats.org/drawingml/2006/main">
              <a:ext uri="{FF2B5EF4-FFF2-40B4-BE49-F238E27FC236}">
                <a16:creationId xmlns:a16="http://schemas.microsoft.com/office/drawing/2014/main" id="{1ED918F2-AA98-4E26-AB87-F52CDBEFF1B0}"/>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869"/>
                </a:solidFill>
                <a:latin typeface="Arial"/>
                <a:ea typeface="Arial"/>
                <a:cs typeface="Arial"/>
              </a:defRPr>
            </a:defPPr>
          </a:lstStyle>
          <a:p xmlns:a="http://schemas.openxmlformats.org/drawingml/2006/main">
            <a:pPr algn="r">
              <a:defRPr sz="1200" b="0">
                <a:solidFill>
                  <a:srgbClr val="536869"/>
                </a:solidFill>
                <a:latin typeface="Arial"/>
                <a:ea typeface="Arial"/>
                <a:cs typeface="Arial"/>
              </a:defRPr>
            </a:pPr>
            <a:r>
              <a:rPr sz="1200" b="0">
                <a:solidFill>
                  <a:srgbClr val="536869"/>
                </a:solidFill>
                <a:latin typeface="Arial"/>
                <a:ea typeface="Arial"/>
                <a:cs typeface="Arial"/>
              </a:rPr>
              <a:t>3 / 7</a:t>
            </a:r>
          </a:p>
        </p:txBody>
      </p:sp>
      <p:sp>
        <p:nvSpPr>
          <p:cNvPr id="3" name="Existing approaches">
            <a:extLst xmlns:a="http://schemas.openxmlformats.org/drawingml/2006/main">
              <a:ext uri="{FF2B5EF4-FFF2-40B4-BE49-F238E27FC236}">
                <a16:creationId xmlns:a16="http://schemas.microsoft.com/office/drawing/2014/main" id="{5565B739-8DA0-4195-9B49-2A16A129A35E}"/>
              </a:ext>
            </a:extLst>
          </p:cNvPr>
          <p:cNvSpPr>
            <a:spLocks xmlns:a="http://schemas.openxmlformats.org/drawingml/2006/main" noGrp="1"/>
          </p:cNvSpPr>
          <p:nvPr/>
        </p:nvSpPr>
        <p:spPr>
          <a:xfrm xmlns:a="http://schemas.openxmlformats.org/drawingml/2006/main">
            <a:off x="609600" y="173355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3E42"/>
                </a:solidFill>
                <a:latin typeface="Arial"/>
                <a:ea typeface="Arial"/>
                <a:cs typeface="Arial"/>
              </a:defRPr>
            </a:defPPr>
          </a:lstStyle>
          <a:p xmlns:a="http://schemas.openxmlformats.org/drawingml/2006/main">
            <a:pPr algn="l">
              <a:defRPr sz="2325" b="1">
                <a:solidFill>
                  <a:srgbClr val="173E42"/>
                </a:solidFill>
                <a:latin typeface="Arial"/>
                <a:ea typeface="Arial"/>
                <a:cs typeface="Arial"/>
              </a:defRPr>
            </a:pPr>
            <a:r>
              <a:rPr sz="2325" b="1">
                <a:solidFill>
                  <a:srgbClr val="173E42"/>
                </a:solidFill>
                <a:latin typeface="Arial"/>
                <a:ea typeface="Arial"/>
                <a:cs typeface="Arial"/>
              </a:rPr>
              <a:t>Existing approaches</a:t>
            </a:r>
          </a:p>
        </p:txBody>
      </p:sp>
      <p:sp>
        <p:nvSpPr>
          <p:cNvPr id="4" name="Consumer portals handle bills&#10;and service requests.&#10;&#10;Meter dashbo">
            <a:extLst xmlns:a="http://schemas.openxmlformats.org/drawingml/2006/main">
              <a:ext uri="{FF2B5EF4-FFF2-40B4-BE49-F238E27FC236}">
                <a16:creationId xmlns:a16="http://schemas.microsoft.com/office/drawing/2014/main" id="{33AA2F8F-6CCB-419A-8B92-57E67EFC3089}"/>
              </a:ext>
            </a:extLst>
          </p:cNvPr>
          <p:cNvSpPr>
            <a:spLocks xmlns:a="http://schemas.openxmlformats.org/drawingml/2006/main" noGrp="1"/>
          </p:cNvSpPr>
          <p:nvPr/>
        </p:nvSpPr>
        <p:spPr>
          <a:xfrm xmlns:a="http://schemas.openxmlformats.org/drawingml/2006/main">
            <a:off x="609600" y="2495550"/>
            <a:ext cx="4857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536869"/>
                </a:solidFill>
                <a:latin typeface="Arial"/>
                <a:ea typeface="Arial"/>
                <a:cs typeface="Arial"/>
              </a:defRPr>
            </a:defPPr>
          </a:lstStyle>
          <a:p xmlns:a="http://schemas.openxmlformats.org/drawingml/2006/main">
            <a:pPr algn="l">
              <a:defRPr sz="2250" b="0">
                <a:solidFill>
                  <a:srgbClr val="536869"/>
                </a:solidFill>
                <a:latin typeface="Arial"/>
                <a:ea typeface="Arial"/>
                <a:cs typeface="Arial"/>
              </a:defRPr>
            </a:pPr>
            <a:r>
              <a:rPr sz="2250" b="0">
                <a:solidFill>
                  <a:srgbClr val="536869"/>
                </a:solidFill>
                <a:latin typeface="Arial"/>
                <a:ea typeface="Arial"/>
                <a:cs typeface="Arial"/>
              </a:rPr>
              <a:t>Consumer portals handle bills</a:t>
            </a:r>
          </a:p>
          <a:p xmlns:a="http://schemas.openxmlformats.org/drawingml/2006/main">
            <a:pPr algn="l">
              <a:defRPr sz="2250" b="0">
                <a:solidFill>
                  <a:srgbClr val="536869"/>
                </a:solidFill>
                <a:latin typeface="Arial"/>
                <a:ea typeface="Arial"/>
                <a:cs typeface="Arial"/>
              </a:defRPr>
            </a:pPr>
            <a:r>
              <a:rPr sz="2250" b="0">
                <a:solidFill>
                  <a:srgbClr val="536869"/>
                </a:solidFill>
                <a:latin typeface="Arial"/>
                <a:ea typeface="Arial"/>
                <a:cs typeface="Arial"/>
              </a:rPr>
              <a:t>and service requests.</a:t>
            </a:r>
          </a:p>
          <a:p xmlns:a="http://schemas.openxmlformats.org/drawingml/2006/main">
            <a:r>
              <a:t/>
            </a:r>
          </a:p>
          <a:p xmlns:a="http://schemas.openxmlformats.org/drawingml/2006/main">
            <a:pPr algn="l">
              <a:defRPr sz="2250" b="0">
                <a:solidFill>
                  <a:srgbClr val="536869"/>
                </a:solidFill>
                <a:latin typeface="Arial"/>
                <a:ea typeface="Arial"/>
                <a:cs typeface="Arial"/>
              </a:defRPr>
            </a:pPr>
            <a:r>
              <a:rPr sz="2250" b="0">
                <a:solidFill>
                  <a:srgbClr val="536869"/>
                </a:solidFill>
                <a:latin typeface="Arial"/>
                <a:ea typeface="Arial"/>
                <a:cs typeface="Arial"/>
              </a:rPr>
              <a:t>Meter dashboards show usage.</a:t>
            </a:r>
          </a:p>
          <a:p xmlns:a="http://schemas.openxmlformats.org/drawingml/2006/main">
            <a:r>
              <a:t/>
            </a:r>
          </a:p>
          <a:p xmlns:a="http://schemas.openxmlformats.org/drawingml/2006/main">
            <a:pPr algn="l">
              <a:defRPr sz="2250" b="0">
                <a:solidFill>
                  <a:srgbClr val="536869"/>
                </a:solidFill>
                <a:latin typeface="Arial"/>
                <a:ea typeface="Arial"/>
                <a:cs typeface="Arial"/>
              </a:defRPr>
            </a:pPr>
            <a:r>
              <a:rPr sz="2250" b="0">
                <a:solidFill>
                  <a:srgbClr val="536869"/>
                </a:solidFill>
                <a:latin typeface="Arial"/>
                <a:ea typeface="Arial"/>
                <a:cs typeface="Arial"/>
              </a:rPr>
              <a:t>Research models forecast demand.</a:t>
            </a:r>
          </a:p>
        </p:txBody>
      </p:sp>
      <p:sp>
        <p:nvSpPr>
          <p:cNvPr id="5" name="The integration gap">
            <a:extLst xmlns:a="http://schemas.openxmlformats.org/drawingml/2006/main">
              <a:ext uri="{FF2B5EF4-FFF2-40B4-BE49-F238E27FC236}">
                <a16:creationId xmlns:a16="http://schemas.microsoft.com/office/drawing/2014/main" id="{63907A3E-0F18-49E3-BAB5-34E7AA4F51A5}"/>
              </a:ext>
            </a:extLst>
          </p:cNvPr>
          <p:cNvSpPr>
            <a:spLocks xmlns:a="http://schemas.openxmlformats.org/drawingml/2006/main" noGrp="1"/>
          </p:cNvSpPr>
          <p:nvPr/>
        </p:nvSpPr>
        <p:spPr>
          <a:xfrm xmlns:a="http://schemas.openxmlformats.org/drawingml/2006/main">
            <a:off x="6572250" y="173355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3E42"/>
                </a:solidFill>
                <a:latin typeface="Arial"/>
                <a:ea typeface="Arial"/>
                <a:cs typeface="Arial"/>
              </a:defRPr>
            </a:defPPr>
          </a:lstStyle>
          <a:p xmlns:a="http://schemas.openxmlformats.org/drawingml/2006/main">
            <a:pPr algn="l">
              <a:defRPr sz="2325" b="1">
                <a:solidFill>
                  <a:srgbClr val="173E42"/>
                </a:solidFill>
                <a:latin typeface="Arial"/>
                <a:ea typeface="Arial"/>
                <a:cs typeface="Arial"/>
              </a:defRPr>
            </a:pPr>
            <a:r>
              <a:rPr sz="2325" b="1">
                <a:solidFill>
                  <a:srgbClr val="173E42"/>
                </a:solidFill>
                <a:latin typeface="Arial"/>
                <a:ea typeface="Arial"/>
                <a:cs typeface="Arial"/>
              </a:rPr>
              <a:t>The integration gap</a:t>
            </a:r>
          </a:p>
        </p:txBody>
      </p:sp>
      <p:sp>
        <p:nvSpPr>
          <p:cNvPr id="6" name="Consumption insight and a&#10;billing query need one&#10;connected suppor">
            <a:extLst xmlns:a="http://schemas.openxmlformats.org/drawingml/2006/main">
              <a:ext uri="{FF2B5EF4-FFF2-40B4-BE49-F238E27FC236}">
                <a16:creationId xmlns:a16="http://schemas.microsoft.com/office/drawing/2014/main" id="{C379B3CA-2EBE-4B55-9E12-E5E5BD392E6F}"/>
              </a:ext>
            </a:extLst>
          </p:cNvPr>
          <p:cNvSpPr>
            <a:spLocks xmlns:a="http://schemas.openxmlformats.org/drawingml/2006/main" noGrp="1"/>
          </p:cNvSpPr>
          <p:nvPr/>
        </p:nvSpPr>
        <p:spPr>
          <a:xfrm xmlns:a="http://schemas.openxmlformats.org/drawingml/2006/main">
            <a:off x="6572250" y="2495550"/>
            <a:ext cx="50006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73E42"/>
                </a:solidFill>
                <a:latin typeface="Arial"/>
                <a:ea typeface="Arial"/>
                <a:cs typeface="Arial"/>
              </a:defRPr>
            </a:defPPr>
          </a:lstStyle>
          <a:p xmlns:a="http://schemas.openxmlformats.org/drawingml/2006/main">
            <a:pPr algn="l">
              <a:defRPr sz="2775" b="1">
                <a:solidFill>
                  <a:srgbClr val="173E42"/>
                </a:solidFill>
                <a:latin typeface="Arial"/>
                <a:ea typeface="Arial"/>
                <a:cs typeface="Arial"/>
              </a:defRPr>
            </a:pPr>
            <a:r>
              <a:rPr sz="2775" b="1">
                <a:solidFill>
                  <a:srgbClr val="173E42"/>
                </a:solidFill>
                <a:latin typeface="Arial"/>
                <a:ea typeface="Arial"/>
                <a:cs typeface="Arial"/>
              </a:rPr>
              <a:t>Consumption insight and a</a:t>
            </a:r>
          </a:p>
          <a:p xmlns:a="http://schemas.openxmlformats.org/drawingml/2006/main">
            <a:pPr algn="l">
              <a:defRPr sz="2775" b="1">
                <a:solidFill>
                  <a:srgbClr val="173E42"/>
                </a:solidFill>
                <a:latin typeface="Arial"/>
                <a:ea typeface="Arial"/>
                <a:cs typeface="Arial"/>
              </a:defRPr>
            </a:pPr>
            <a:r>
              <a:rPr sz="2775" b="1">
                <a:solidFill>
                  <a:srgbClr val="173E42"/>
                </a:solidFill>
                <a:latin typeface="Arial"/>
                <a:ea typeface="Arial"/>
                <a:cs typeface="Arial"/>
              </a:rPr>
              <a:t>billing query need one</a:t>
            </a:r>
          </a:p>
          <a:p xmlns:a="http://schemas.openxmlformats.org/drawingml/2006/main">
            <a:pPr algn="l">
              <a:defRPr sz="2775" b="1">
                <a:solidFill>
                  <a:srgbClr val="173E42"/>
                </a:solidFill>
                <a:latin typeface="Arial"/>
                <a:ea typeface="Arial"/>
                <a:cs typeface="Arial"/>
              </a:defRPr>
            </a:pPr>
            <a:r>
              <a:rPr sz="2775" b="1">
                <a:solidFill>
                  <a:srgbClr val="173E42"/>
                </a:solidFill>
                <a:latin typeface="Arial"/>
                <a:ea typeface="Arial"/>
                <a:cs typeface="Arial"/>
              </a:rPr>
              <a:t>connected support workflow.</a:t>
            </a:r>
          </a:p>
        </p:txBody>
      </p:sp>
      <p:sp>
        <p:nvSpPr>
          <p:cNvPr id="7" name="An estimate, a review alert, a ticket&#10;and a scheduled consultatio">
            <a:extLst xmlns:a="http://schemas.openxmlformats.org/drawingml/2006/main">
              <a:ext uri="{FF2B5EF4-FFF2-40B4-BE49-F238E27FC236}">
                <a16:creationId xmlns:a16="http://schemas.microsoft.com/office/drawing/2014/main" id="{36072621-A482-482A-838A-C098354910E1}"/>
              </a:ext>
            </a:extLst>
          </p:cNvPr>
          <p:cNvSpPr>
            <a:spLocks xmlns:a="http://schemas.openxmlformats.org/drawingml/2006/main" noGrp="1"/>
          </p:cNvSpPr>
          <p:nvPr/>
        </p:nvSpPr>
        <p:spPr>
          <a:xfrm xmlns:a="http://schemas.openxmlformats.org/drawingml/2006/main">
            <a:off x="6572250" y="4486275"/>
            <a:ext cx="4905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869"/>
                </a:solidFill>
                <a:latin typeface="Arial"/>
                <a:ea typeface="Arial"/>
                <a:cs typeface="Arial"/>
              </a:defRPr>
            </a:defPPr>
          </a:lstStyle>
          <a:p xmlns:a="http://schemas.openxmlformats.org/drawingml/2006/main">
            <a:pPr algn="l">
              <a:defRPr sz="2100" b="0">
                <a:solidFill>
                  <a:srgbClr val="536869"/>
                </a:solidFill>
                <a:latin typeface="Arial"/>
                <a:ea typeface="Arial"/>
                <a:cs typeface="Arial"/>
              </a:defRPr>
            </a:pPr>
            <a:r>
              <a:rPr sz="2100" b="0">
                <a:solidFill>
                  <a:srgbClr val="536869"/>
                </a:solidFill>
                <a:latin typeface="Arial"/>
                <a:ea typeface="Arial"/>
                <a:cs typeface="Arial"/>
              </a:rPr>
              <a:t>An estimate, a review alert, a ticket</a:t>
            </a:r>
          </a:p>
          <a:p xmlns:a="http://schemas.openxmlformats.org/drawingml/2006/main">
            <a:pPr algn="l">
              <a:defRPr sz="2100" b="0">
                <a:solidFill>
                  <a:srgbClr val="536869"/>
                </a:solidFill>
                <a:latin typeface="Arial"/>
                <a:ea typeface="Arial"/>
                <a:cs typeface="Arial"/>
              </a:defRPr>
            </a:pPr>
            <a:r>
              <a:rPr sz="2100" b="0">
                <a:solidFill>
                  <a:srgbClr val="536869"/>
                </a:solidFill>
                <a:latin typeface="Arial"/>
                <a:ea typeface="Arial"/>
                <a:cs typeface="Arial"/>
              </a:rPr>
              <a:t>and a scheduled consultation</a:t>
            </a:r>
          </a:p>
        </p:txBody>
      </p:sp>
      <p:sp>
        <p:nvSpPr>
          <p:cNvPr id="8" name="Opportunity identified for this prototype: connect monitoring wit">
            <a:extLst xmlns:a="http://schemas.openxmlformats.org/drawingml/2006/main">
              <a:ext uri="{FF2B5EF4-FFF2-40B4-BE49-F238E27FC236}">
                <a16:creationId xmlns:a16="http://schemas.microsoft.com/office/drawing/2014/main" id="{17702635-BFA0-46FE-A7DF-1C6CE4CBA544}"/>
              </a:ext>
            </a:extLst>
          </p:cNvPr>
          <p:cNvSpPr>
            <a:spLocks xmlns:a="http://schemas.openxmlformats.org/drawingml/2006/main" noGrp="1"/>
          </p:cNvSpPr>
          <p:nvPr/>
        </p:nvSpPr>
        <p:spPr>
          <a:xfrm xmlns:a="http://schemas.openxmlformats.org/drawingml/2006/main">
            <a:off x="609600" y="5943600"/>
            <a:ext cx="10668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3E42"/>
                </a:solidFill>
                <a:latin typeface="Arial"/>
                <a:ea typeface="Arial"/>
                <a:cs typeface="Arial"/>
              </a:defRPr>
            </a:defPPr>
          </a:lstStyle>
          <a:p xmlns:a="http://schemas.openxmlformats.org/drawingml/2006/main">
            <a:pPr algn="l">
              <a:defRPr sz="1800" b="1">
                <a:solidFill>
                  <a:srgbClr val="173E42"/>
                </a:solidFill>
                <a:latin typeface="Arial"/>
                <a:ea typeface="Arial"/>
                <a:cs typeface="Arial"/>
              </a:defRPr>
            </a:pPr>
            <a:r>
              <a:rPr sz="1800" b="1">
                <a:solidFill>
                  <a:srgbClr val="173E42"/>
                </a:solidFill>
                <a:latin typeface="Arial"/>
                <a:ea typeface="Arial"/>
                <a:cs typeface="Arial"/>
              </a:rPr>
              <a:t>Opportunity identified for this prototype: connect monitoring with consumer assistance</a:t>
            </a:r>
          </a:p>
        </p:txBody>
      </p:sp>
    </p:spTree>
    <p:extLst>
      <p:ext uri="{BB962C8B-B14F-4D97-AF65-F5344CB8AC3E}">
        <p14:creationId xmlns:p14="http://schemas.microsoft.com/office/powerpoint/2010/main" val="78941811"/>
      </p:ext>
    </p:extLst>
  </p:cSld>
</p:sld>
</file>

<file path=ppt/slides/slide4.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20" name="The gap GridPulse solves">
            <a:extLst xmlns:a="http://schemas.openxmlformats.org/drawingml/2006/main">
              <a:ext uri="{FF2B5EF4-FFF2-40B4-BE49-F238E27FC236}">
                <a16:creationId xmlns:a16="http://schemas.microsoft.com/office/drawing/2014/main" id="{CAC4D8BF-7A19-4224-AFB1-49F06F4435C7}"/>
              </a:ext>
            </a:extLst>
          </p:cNvPr>
          <p:cNvSpPr>
            <a:spLocks xmlns:a="http://schemas.openxmlformats.org/drawingml/2006/main" noGrp="1"/>
          </p:cNvSpPr>
          <p:nvPr/>
        </p:nvSpPr>
        <p:spPr>
          <a:xfrm xmlns:a="http://schemas.openxmlformats.org/drawingml/2006/main">
            <a:off x="609600" y="4572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42"/>
                </a:solidFill>
                <a:latin typeface="Arial"/>
                <a:ea typeface="Arial"/>
                <a:cs typeface="Arial"/>
              </a:defRPr>
            </a:defPPr>
          </a:lstStyle>
          <a:p xmlns:a="http://schemas.openxmlformats.org/drawingml/2006/main">
            <a:pPr algn="l">
              <a:defRPr sz="3300" b="1">
                <a:solidFill>
                  <a:srgbClr val="173E42"/>
                </a:solidFill>
                <a:latin typeface="Arial"/>
                <a:ea typeface="Arial"/>
                <a:cs typeface="Arial"/>
              </a:defRPr>
            </a:pPr>
            <a:r>
              <a:rPr sz="3300" b="1">
                <a:solidFill>
                  <a:srgbClr val="173E42"/>
                </a:solidFill>
                <a:latin typeface="Arial"/>
                <a:ea typeface="Arial"/>
                <a:cs typeface="Arial"/>
              </a:rPr>
              <a:t>The gap GridPulse solves</a:t>
            </a:r>
          </a:p>
        </p:txBody>
      </p:sp>
      <p:sp>
        <p:nvSpPr>
          <p:cNvPr id="2" name="4 / 7">
            <a:extLst xmlns:a="http://schemas.openxmlformats.org/drawingml/2006/main">
              <a:ext uri="{FF2B5EF4-FFF2-40B4-BE49-F238E27FC236}">
                <a16:creationId xmlns:a16="http://schemas.microsoft.com/office/drawing/2014/main" id="{E6402C66-F441-42DC-A680-5E41FE18A7EC}"/>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869"/>
                </a:solidFill>
                <a:latin typeface="Arial"/>
                <a:ea typeface="Arial"/>
                <a:cs typeface="Arial"/>
              </a:defRPr>
            </a:defPPr>
          </a:lstStyle>
          <a:p xmlns:a="http://schemas.openxmlformats.org/drawingml/2006/main">
            <a:pPr algn="r">
              <a:defRPr sz="1200" b="0">
                <a:solidFill>
                  <a:srgbClr val="536869"/>
                </a:solidFill>
                <a:latin typeface="Arial"/>
                <a:ea typeface="Arial"/>
                <a:cs typeface="Arial"/>
              </a:defRPr>
            </a:pPr>
            <a:r>
              <a:rPr sz="1200" b="0">
                <a:solidFill>
                  <a:srgbClr val="536869"/>
                </a:solidFill>
                <a:latin typeface="Arial"/>
                <a:ea typeface="Arial"/>
                <a:cs typeface="Arial"/>
              </a:rPr>
              <a:t>4 / 7</a:t>
            </a:r>
          </a:p>
        </p:txBody>
      </p:sp>
      <p:sp>
        <p:nvSpPr>
          <p:cNvPr id="3" name="01">
            <a:extLst xmlns:a="http://schemas.openxmlformats.org/drawingml/2006/main">
              <a:ext uri="{FF2B5EF4-FFF2-40B4-BE49-F238E27FC236}">
                <a16:creationId xmlns:a16="http://schemas.microsoft.com/office/drawing/2014/main" id="{1B3A9111-9E6F-430E-96B6-57DEBC5E90F1}"/>
              </a:ext>
            </a:extLst>
          </p:cNvPr>
          <p:cNvSpPr>
            <a:spLocks xmlns:a="http://schemas.openxmlformats.org/drawingml/2006/main" noGrp="1"/>
          </p:cNvSpPr>
          <p:nvPr/>
        </p:nvSpPr>
        <p:spPr>
          <a:xfrm xmlns:a="http://schemas.openxmlformats.org/drawingml/2006/main">
            <a:off x="609600" y="15525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E6A228"/>
                </a:solidFill>
                <a:latin typeface="Arial"/>
                <a:ea typeface="Arial"/>
                <a:cs typeface="Arial"/>
              </a:defRPr>
            </a:defPPr>
          </a:lstStyle>
          <a:p xmlns:a="http://schemas.openxmlformats.org/drawingml/2006/main">
            <a:pPr algn="l">
              <a:defRPr sz="2775" b="1">
                <a:solidFill>
                  <a:srgbClr val="E6A228"/>
                </a:solidFill>
                <a:latin typeface="Arial"/>
                <a:ea typeface="Arial"/>
                <a:cs typeface="Arial"/>
              </a:defRPr>
            </a:pPr>
            <a:r>
              <a:rPr sz="2775" b="1">
                <a:solidFill>
                  <a:srgbClr val="E6A228"/>
                </a:solidFill>
                <a:latin typeface="Arial"/>
                <a:ea typeface="Arial"/>
                <a:cs typeface="Arial"/>
              </a:rPr>
              <a:t>01</a:t>
            </a:r>
          </a:p>
        </p:txBody>
      </p:sp>
      <p:sp>
        <p:nvSpPr>
          <p:cNvPr id="4" name="Monitor">
            <a:extLst xmlns:a="http://schemas.openxmlformats.org/drawingml/2006/main">
              <a:ext uri="{FF2B5EF4-FFF2-40B4-BE49-F238E27FC236}">
                <a16:creationId xmlns:a16="http://schemas.microsoft.com/office/drawing/2014/main" id="{5A0C9ADF-1B0A-42D9-88C1-8BA6CEDCB584}"/>
              </a:ext>
            </a:extLst>
          </p:cNvPr>
          <p:cNvSpPr>
            <a:spLocks xmlns:a="http://schemas.openxmlformats.org/drawingml/2006/main" noGrp="1"/>
          </p:cNvSpPr>
          <p:nvPr/>
        </p:nvSpPr>
        <p:spPr>
          <a:xfrm xmlns:a="http://schemas.openxmlformats.org/drawingml/2006/main">
            <a:off x="1504950" y="15525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Monitor</a:t>
            </a:r>
          </a:p>
        </p:txBody>
      </p:sp>
      <p:sp>
        <p:nvSpPr>
          <p:cNvPr id="5" name="Live usage and a monthly estimate">
            <a:extLst xmlns:a="http://schemas.openxmlformats.org/drawingml/2006/main">
              <a:ext uri="{FF2B5EF4-FFF2-40B4-BE49-F238E27FC236}">
                <a16:creationId xmlns:a16="http://schemas.microsoft.com/office/drawing/2014/main" id="{6117DBB1-4EE7-465B-977A-91733A777DD6}"/>
              </a:ext>
            </a:extLst>
          </p:cNvPr>
          <p:cNvSpPr>
            <a:spLocks xmlns:a="http://schemas.openxmlformats.org/drawingml/2006/main" noGrp="1"/>
          </p:cNvSpPr>
          <p:nvPr/>
        </p:nvSpPr>
        <p:spPr>
          <a:xfrm xmlns:a="http://schemas.openxmlformats.org/drawingml/2006/main">
            <a:off x="1504950" y="1962150"/>
            <a:ext cx="581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Live usage and a monthly estimate</a:t>
            </a:r>
          </a:p>
        </p:txBody>
      </p:sp>
      <p:sp>
        <p:nvSpPr>
          <p:cNvPr id="6" name="02">
            <a:extLst xmlns:a="http://schemas.openxmlformats.org/drawingml/2006/main">
              <a:ext uri="{FF2B5EF4-FFF2-40B4-BE49-F238E27FC236}">
                <a16:creationId xmlns:a16="http://schemas.microsoft.com/office/drawing/2014/main" id="{C7D2D72E-0C5E-4747-B612-E5307EE24FEC}"/>
              </a:ext>
            </a:extLst>
          </p:cNvPr>
          <p:cNvSpPr>
            <a:spLocks xmlns:a="http://schemas.openxmlformats.org/drawingml/2006/main" noGrp="1"/>
          </p:cNvSpPr>
          <p:nvPr/>
        </p:nvSpPr>
        <p:spPr>
          <a:xfrm xmlns:a="http://schemas.openxmlformats.org/drawingml/2006/main">
            <a:off x="609600" y="25622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E6A228"/>
                </a:solidFill>
                <a:latin typeface="Arial"/>
                <a:ea typeface="Arial"/>
                <a:cs typeface="Arial"/>
              </a:defRPr>
            </a:defPPr>
          </a:lstStyle>
          <a:p xmlns:a="http://schemas.openxmlformats.org/drawingml/2006/main">
            <a:pPr algn="l">
              <a:defRPr sz="2775" b="1">
                <a:solidFill>
                  <a:srgbClr val="E6A228"/>
                </a:solidFill>
                <a:latin typeface="Arial"/>
                <a:ea typeface="Arial"/>
                <a:cs typeface="Arial"/>
              </a:defRPr>
            </a:pPr>
            <a:r>
              <a:rPr sz="2775" b="1">
                <a:solidFill>
                  <a:srgbClr val="E6A228"/>
                </a:solidFill>
                <a:latin typeface="Arial"/>
                <a:ea typeface="Arial"/>
                <a:cs typeface="Arial"/>
              </a:rPr>
              <a:t>02</a:t>
            </a:r>
          </a:p>
        </p:txBody>
      </p:sp>
      <p:sp>
        <p:nvSpPr>
          <p:cNvPr id="7" name="Plan">
            <a:extLst xmlns:a="http://schemas.openxmlformats.org/drawingml/2006/main">
              <a:ext uri="{FF2B5EF4-FFF2-40B4-BE49-F238E27FC236}">
                <a16:creationId xmlns:a16="http://schemas.microsoft.com/office/drawing/2014/main" id="{4C22E9C0-4F47-49AD-A161-0AEF981BBF43}"/>
              </a:ext>
            </a:extLst>
          </p:cNvPr>
          <p:cNvSpPr>
            <a:spLocks xmlns:a="http://schemas.openxmlformats.org/drawingml/2006/main" noGrp="1"/>
          </p:cNvSpPr>
          <p:nvPr/>
        </p:nvSpPr>
        <p:spPr>
          <a:xfrm xmlns:a="http://schemas.openxmlformats.org/drawingml/2006/main">
            <a:off x="1504950" y="25622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Plan</a:t>
            </a:r>
          </a:p>
        </p:txBody>
      </p:sp>
      <p:sp>
        <p:nvSpPr>
          <p:cNvPr id="8" name="Spending target and energy suggestions">
            <a:extLst xmlns:a="http://schemas.openxmlformats.org/drawingml/2006/main">
              <a:ext uri="{FF2B5EF4-FFF2-40B4-BE49-F238E27FC236}">
                <a16:creationId xmlns:a16="http://schemas.microsoft.com/office/drawing/2014/main" id="{AD3BE83C-4F75-4661-8CE5-1F026E3B2811}"/>
              </a:ext>
            </a:extLst>
          </p:cNvPr>
          <p:cNvSpPr>
            <a:spLocks xmlns:a="http://schemas.openxmlformats.org/drawingml/2006/main" noGrp="1"/>
          </p:cNvSpPr>
          <p:nvPr/>
        </p:nvSpPr>
        <p:spPr>
          <a:xfrm xmlns:a="http://schemas.openxmlformats.org/drawingml/2006/main">
            <a:off x="1504950" y="2971800"/>
            <a:ext cx="581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Spending target and energy suggestions</a:t>
            </a:r>
          </a:p>
        </p:txBody>
      </p:sp>
      <p:sp>
        <p:nvSpPr>
          <p:cNvPr id="9" name="03">
            <a:extLst xmlns:a="http://schemas.openxmlformats.org/drawingml/2006/main">
              <a:ext uri="{FF2B5EF4-FFF2-40B4-BE49-F238E27FC236}">
                <a16:creationId xmlns:a16="http://schemas.microsoft.com/office/drawing/2014/main" id="{64CDD440-615B-4582-BE54-A30FCA4295E0}"/>
              </a:ext>
            </a:extLst>
          </p:cNvPr>
          <p:cNvSpPr>
            <a:spLocks xmlns:a="http://schemas.openxmlformats.org/drawingml/2006/main" noGrp="1"/>
          </p:cNvSpPr>
          <p:nvPr/>
        </p:nvSpPr>
        <p:spPr>
          <a:xfrm xmlns:a="http://schemas.openxmlformats.org/drawingml/2006/main">
            <a:off x="609600" y="35718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E6A228"/>
                </a:solidFill>
                <a:latin typeface="Arial"/>
                <a:ea typeface="Arial"/>
                <a:cs typeface="Arial"/>
              </a:defRPr>
            </a:defPPr>
          </a:lstStyle>
          <a:p xmlns:a="http://schemas.openxmlformats.org/drawingml/2006/main">
            <a:pPr algn="l">
              <a:defRPr sz="2775" b="1">
                <a:solidFill>
                  <a:srgbClr val="E6A228"/>
                </a:solidFill>
                <a:latin typeface="Arial"/>
                <a:ea typeface="Arial"/>
                <a:cs typeface="Arial"/>
              </a:defRPr>
            </a:pPr>
            <a:r>
              <a:rPr sz="2775" b="1">
                <a:solidFill>
                  <a:srgbClr val="E6A228"/>
                </a:solidFill>
                <a:latin typeface="Arial"/>
                <a:ea typeface="Arial"/>
                <a:cs typeface="Arial"/>
              </a:rPr>
              <a:t>03</a:t>
            </a:r>
          </a:p>
        </p:txBody>
      </p:sp>
      <p:sp>
        <p:nvSpPr>
          <p:cNvPr id="10" name="Review">
            <a:extLst xmlns:a="http://schemas.openxmlformats.org/drawingml/2006/main">
              <a:ext uri="{FF2B5EF4-FFF2-40B4-BE49-F238E27FC236}">
                <a16:creationId xmlns:a16="http://schemas.microsoft.com/office/drawing/2014/main" id="{0A866D5E-2E48-4A44-B504-201FDDEF632B}"/>
              </a:ext>
            </a:extLst>
          </p:cNvPr>
          <p:cNvSpPr>
            <a:spLocks xmlns:a="http://schemas.openxmlformats.org/drawingml/2006/main" noGrp="1"/>
          </p:cNvSpPr>
          <p:nvPr/>
        </p:nvSpPr>
        <p:spPr>
          <a:xfrm xmlns:a="http://schemas.openxmlformats.org/drawingml/2006/main">
            <a:off x="1504950" y="35718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Review</a:t>
            </a:r>
          </a:p>
        </p:txBody>
      </p:sp>
      <p:sp>
        <p:nvSpPr>
          <p:cNvPr id="11" name="Compare the entered bill with the estimate">
            <a:extLst xmlns:a="http://schemas.openxmlformats.org/drawingml/2006/main">
              <a:ext uri="{FF2B5EF4-FFF2-40B4-BE49-F238E27FC236}">
                <a16:creationId xmlns:a16="http://schemas.microsoft.com/office/drawing/2014/main" id="{BD6DDFE3-A3FF-4AB1-83DE-95C651498EB4}"/>
              </a:ext>
            </a:extLst>
          </p:cNvPr>
          <p:cNvSpPr>
            <a:spLocks xmlns:a="http://schemas.openxmlformats.org/drawingml/2006/main" noGrp="1"/>
          </p:cNvSpPr>
          <p:nvPr/>
        </p:nvSpPr>
        <p:spPr>
          <a:xfrm xmlns:a="http://schemas.openxmlformats.org/drawingml/2006/main">
            <a:off x="1504950" y="3981450"/>
            <a:ext cx="581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Compare the entered bill with the estimate</a:t>
            </a:r>
          </a:p>
        </p:txBody>
      </p:sp>
      <p:sp>
        <p:nvSpPr>
          <p:cNvPr id="12" name="04">
            <a:extLst xmlns:a="http://schemas.openxmlformats.org/drawingml/2006/main">
              <a:ext uri="{FF2B5EF4-FFF2-40B4-BE49-F238E27FC236}">
                <a16:creationId xmlns:a16="http://schemas.microsoft.com/office/drawing/2014/main" id="{EA8E302B-FBA7-4AFD-94BC-1384305E4F18}"/>
              </a:ext>
            </a:extLst>
          </p:cNvPr>
          <p:cNvSpPr>
            <a:spLocks xmlns:a="http://schemas.openxmlformats.org/drawingml/2006/main" noGrp="1"/>
          </p:cNvSpPr>
          <p:nvPr/>
        </p:nvSpPr>
        <p:spPr>
          <a:xfrm xmlns:a="http://schemas.openxmlformats.org/drawingml/2006/main">
            <a:off x="609600" y="458152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E6A228"/>
                </a:solidFill>
                <a:latin typeface="Arial"/>
                <a:ea typeface="Arial"/>
                <a:cs typeface="Arial"/>
              </a:defRPr>
            </a:defPPr>
          </a:lstStyle>
          <a:p xmlns:a="http://schemas.openxmlformats.org/drawingml/2006/main">
            <a:pPr algn="l">
              <a:defRPr sz="2775" b="1">
                <a:solidFill>
                  <a:srgbClr val="E6A228"/>
                </a:solidFill>
                <a:latin typeface="Arial"/>
                <a:ea typeface="Arial"/>
                <a:cs typeface="Arial"/>
              </a:defRPr>
            </a:pPr>
            <a:r>
              <a:rPr sz="2775" b="1">
                <a:solidFill>
                  <a:srgbClr val="E6A228"/>
                </a:solidFill>
                <a:latin typeface="Arial"/>
                <a:ea typeface="Arial"/>
                <a:cs typeface="Arial"/>
              </a:rPr>
              <a:t>04</a:t>
            </a:r>
          </a:p>
        </p:txBody>
      </p:sp>
      <p:sp>
        <p:nvSpPr>
          <p:cNvPr id="13" name="Get support">
            <a:extLst xmlns:a="http://schemas.openxmlformats.org/drawingml/2006/main">
              <a:ext uri="{FF2B5EF4-FFF2-40B4-BE49-F238E27FC236}">
                <a16:creationId xmlns:a16="http://schemas.microsoft.com/office/drawing/2014/main" id="{09A66C17-D595-4922-B74F-456C620DEB29}"/>
              </a:ext>
            </a:extLst>
          </p:cNvPr>
          <p:cNvSpPr>
            <a:spLocks xmlns:a="http://schemas.openxmlformats.org/drawingml/2006/main" noGrp="1"/>
          </p:cNvSpPr>
          <p:nvPr/>
        </p:nvSpPr>
        <p:spPr>
          <a:xfrm xmlns:a="http://schemas.openxmlformats.org/drawingml/2006/main">
            <a:off x="1504950" y="458152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Get support</a:t>
            </a:r>
          </a:p>
        </p:txBody>
      </p:sp>
      <p:sp>
        <p:nvSpPr>
          <p:cNvPr id="14" name="Ticket token, appointment and status tracking">
            <a:extLst xmlns:a="http://schemas.openxmlformats.org/drawingml/2006/main">
              <a:ext uri="{FF2B5EF4-FFF2-40B4-BE49-F238E27FC236}">
                <a16:creationId xmlns:a16="http://schemas.microsoft.com/office/drawing/2014/main" id="{D3B1B961-CA73-4170-AD84-CD3883EEE2F3}"/>
              </a:ext>
            </a:extLst>
          </p:cNvPr>
          <p:cNvSpPr>
            <a:spLocks xmlns:a="http://schemas.openxmlformats.org/drawingml/2006/main" noGrp="1"/>
          </p:cNvSpPr>
          <p:nvPr/>
        </p:nvSpPr>
        <p:spPr>
          <a:xfrm xmlns:a="http://schemas.openxmlformats.org/drawingml/2006/main">
            <a:off x="1504950" y="4991100"/>
            <a:ext cx="5810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Ticket token, appointment and status tracking</a:t>
            </a:r>
          </a:p>
        </p:txBody>
      </p:sp>
      <p:sp>
        <p:nvSpPr>
          <p:cNvPr id="15" name="₹150">
            <a:extLst xmlns:a="http://schemas.openxmlformats.org/drawingml/2006/main">
              <a:ext uri="{FF2B5EF4-FFF2-40B4-BE49-F238E27FC236}">
                <a16:creationId xmlns:a16="http://schemas.microsoft.com/office/drawing/2014/main" id="{C525C001-74D7-47E4-9E33-5334E9B83309}"/>
              </a:ext>
            </a:extLst>
          </p:cNvPr>
          <p:cNvSpPr>
            <a:spLocks xmlns:a="http://schemas.openxmlformats.org/drawingml/2006/main" noGrp="1"/>
          </p:cNvSpPr>
          <p:nvPr/>
        </p:nvSpPr>
        <p:spPr>
          <a:xfrm xmlns:a="http://schemas.openxmlformats.org/drawingml/2006/main">
            <a:off x="8382000" y="1657350"/>
            <a:ext cx="295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73E42"/>
                </a:solidFill>
                <a:latin typeface="Arial"/>
                <a:ea typeface="Arial"/>
                <a:cs typeface="Arial"/>
              </a:defRPr>
            </a:defPPr>
          </a:lstStyle>
          <a:p xmlns:a="http://schemas.openxmlformats.org/drawingml/2006/main">
            <a:pPr algn="l">
              <a:defRPr sz="4650" b="1">
                <a:solidFill>
                  <a:srgbClr val="173E42"/>
                </a:solidFill>
                <a:latin typeface="Arial"/>
                <a:ea typeface="Arial"/>
                <a:cs typeface="Arial"/>
              </a:defRPr>
            </a:pPr>
            <a:r>
              <a:rPr sz="4650" b="1">
                <a:solidFill>
                  <a:srgbClr val="173E42"/>
                </a:solidFill>
                <a:latin typeface="Arial"/>
                <a:ea typeface="Arial"/>
                <a:cs typeface="Arial"/>
              </a:rPr>
              <a:t>₹150</a:t>
            </a:r>
          </a:p>
        </p:txBody>
      </p:sp>
      <p:sp>
        <p:nvSpPr>
          <p:cNvPr id="16" name="or more in absolute variance&#10;flags the bill for review">
            <a:extLst xmlns:a="http://schemas.openxmlformats.org/drawingml/2006/main">
              <a:ext uri="{FF2B5EF4-FFF2-40B4-BE49-F238E27FC236}">
                <a16:creationId xmlns:a16="http://schemas.microsoft.com/office/drawing/2014/main" id="{F7DC17CA-EED9-4369-8D4C-E702FFE6C5D3}"/>
              </a:ext>
            </a:extLst>
          </p:cNvPr>
          <p:cNvSpPr>
            <a:spLocks xmlns:a="http://schemas.openxmlformats.org/drawingml/2006/main" noGrp="1"/>
          </p:cNvSpPr>
          <p:nvPr/>
        </p:nvSpPr>
        <p:spPr>
          <a:xfrm xmlns:a="http://schemas.openxmlformats.org/drawingml/2006/main">
            <a:off x="8382000" y="2438400"/>
            <a:ext cx="304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or more in absolute variance</a:t>
            </a:r>
          </a:p>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flags the bill for review</a:t>
            </a:r>
          </a:p>
        </p:txBody>
      </p:sp>
      <p:sp>
        <p:nvSpPr>
          <p:cNvPr id="17" name="4 hours">
            <a:extLst xmlns:a="http://schemas.openxmlformats.org/drawingml/2006/main">
              <a:ext uri="{FF2B5EF4-FFF2-40B4-BE49-F238E27FC236}">
                <a16:creationId xmlns:a16="http://schemas.microsoft.com/office/drawing/2014/main" id="{91545F11-759B-4AF4-9D4A-2990D0FFAD32}"/>
              </a:ext>
            </a:extLst>
          </p:cNvPr>
          <p:cNvSpPr>
            <a:spLocks xmlns:a="http://schemas.openxmlformats.org/drawingml/2006/main" noGrp="1"/>
          </p:cNvSpPr>
          <p:nvPr/>
        </p:nvSpPr>
        <p:spPr>
          <a:xfrm xmlns:a="http://schemas.openxmlformats.org/drawingml/2006/main">
            <a:off x="8382000" y="3581400"/>
            <a:ext cx="3095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E42"/>
                </a:solidFill>
                <a:latin typeface="Arial"/>
                <a:ea typeface="Arial"/>
                <a:cs typeface="Arial"/>
              </a:defRPr>
            </a:defPPr>
          </a:lstStyle>
          <a:p xmlns:a="http://schemas.openxmlformats.org/drawingml/2006/main">
            <a:pPr algn="l">
              <a:defRPr sz="4200" b="1">
                <a:solidFill>
                  <a:srgbClr val="173E42"/>
                </a:solidFill>
                <a:latin typeface="Arial"/>
                <a:ea typeface="Arial"/>
                <a:cs typeface="Arial"/>
              </a:defRPr>
            </a:pPr>
            <a:r>
              <a:rPr sz="4200" b="1">
                <a:solidFill>
                  <a:srgbClr val="173E42"/>
                </a:solidFill>
                <a:latin typeface="Arial"/>
                <a:ea typeface="Arial"/>
                <a:cs typeface="Arial"/>
              </a:rPr>
              <a:t>4 hours</a:t>
            </a:r>
          </a:p>
        </p:txBody>
      </p:sp>
      <p:sp>
        <p:nvSpPr>
          <p:cNvPr id="18" name="before the appointment,&#10;consultation mode locks">
            <a:extLst xmlns:a="http://schemas.openxmlformats.org/drawingml/2006/main">
              <a:ext uri="{FF2B5EF4-FFF2-40B4-BE49-F238E27FC236}">
                <a16:creationId xmlns:a16="http://schemas.microsoft.com/office/drawing/2014/main" id="{B3BD404F-7FD9-44AE-9D23-C1574A34D1B4}"/>
              </a:ext>
            </a:extLst>
          </p:cNvPr>
          <p:cNvSpPr>
            <a:spLocks xmlns:a="http://schemas.openxmlformats.org/drawingml/2006/main" noGrp="1"/>
          </p:cNvSpPr>
          <p:nvPr/>
        </p:nvSpPr>
        <p:spPr>
          <a:xfrm xmlns:a="http://schemas.openxmlformats.org/drawingml/2006/main">
            <a:off x="8382000" y="4362450"/>
            <a:ext cx="314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before the appointment,</a:t>
            </a:r>
          </a:p>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consultation mode locks</a:t>
            </a:r>
          </a:p>
        </p:txBody>
      </p:sp>
      <p:sp>
        <p:nvSpPr>
          <p:cNvPr id="19" name="Online or offline support&#10;Offline is the default">
            <a:extLst xmlns:a="http://schemas.openxmlformats.org/drawingml/2006/main">
              <a:ext uri="{FF2B5EF4-FFF2-40B4-BE49-F238E27FC236}">
                <a16:creationId xmlns:a16="http://schemas.microsoft.com/office/drawing/2014/main" id="{E8B21080-14DC-441F-9EDF-9A2E50C9B237}"/>
              </a:ext>
            </a:extLst>
          </p:cNvPr>
          <p:cNvSpPr>
            <a:spLocks xmlns:a="http://schemas.openxmlformats.org/drawingml/2006/main" noGrp="1"/>
          </p:cNvSpPr>
          <p:nvPr/>
        </p:nvSpPr>
        <p:spPr>
          <a:xfrm xmlns:a="http://schemas.openxmlformats.org/drawingml/2006/main">
            <a:off x="8382000" y="5476875"/>
            <a:ext cx="319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73E42"/>
                </a:solidFill>
                <a:latin typeface="Arial"/>
                <a:ea typeface="Arial"/>
                <a:cs typeface="Arial"/>
              </a:defRPr>
            </a:defPPr>
          </a:lstStyle>
          <a:p xmlns:a="http://schemas.openxmlformats.org/drawingml/2006/main">
            <a:pPr algn="l">
              <a:defRPr sz="1875" b="1">
                <a:solidFill>
                  <a:srgbClr val="173E42"/>
                </a:solidFill>
                <a:latin typeface="Arial"/>
                <a:ea typeface="Arial"/>
                <a:cs typeface="Arial"/>
              </a:defRPr>
            </a:pPr>
            <a:r>
              <a:rPr sz="1875" b="1">
                <a:solidFill>
                  <a:srgbClr val="173E42"/>
                </a:solidFill>
                <a:latin typeface="Arial"/>
                <a:ea typeface="Arial"/>
                <a:cs typeface="Arial"/>
              </a:rPr>
              <a:t>Online or offline support</a:t>
            </a:r>
          </a:p>
          <a:p xmlns:a="http://schemas.openxmlformats.org/drawingml/2006/main">
            <a:pPr algn="l">
              <a:defRPr sz="1875" b="1">
                <a:solidFill>
                  <a:srgbClr val="173E42"/>
                </a:solidFill>
                <a:latin typeface="Arial"/>
                <a:ea typeface="Arial"/>
                <a:cs typeface="Arial"/>
              </a:defRPr>
            </a:pPr>
            <a:r>
              <a:rPr sz="1875" b="1">
                <a:solidFill>
                  <a:srgbClr val="173E42"/>
                </a:solidFill>
                <a:latin typeface="Arial"/>
                <a:ea typeface="Arial"/>
                <a:cs typeface="Arial"/>
              </a:rPr>
              <a:t>Offline is the default</a:t>
            </a:r>
          </a:p>
        </p:txBody>
      </p:sp>
    </p:spTree>
    <p:extLst>
      <p:ext uri="{BB962C8B-B14F-4D97-AF65-F5344CB8AC3E}">
        <p14:creationId xmlns:p14="http://schemas.microsoft.com/office/powerpoint/2010/main" val="699471629"/>
      </p:ext>
    </p:extLst>
  </p:cSld>
</p:sld>
</file>

<file path=ppt/slides/slide5.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13" name="Prototype output: the citizen view">
            <a:extLst xmlns:a="http://schemas.openxmlformats.org/drawingml/2006/main">
              <a:ext uri="{FF2B5EF4-FFF2-40B4-BE49-F238E27FC236}">
                <a16:creationId xmlns:a16="http://schemas.microsoft.com/office/drawing/2014/main" id="{767A5717-70EE-4C02-85E1-1B001444F52F}"/>
              </a:ext>
            </a:extLst>
          </p:cNvPr>
          <p:cNvSpPr>
            <a:spLocks xmlns:a="http://schemas.openxmlformats.org/drawingml/2006/main" noGrp="1"/>
          </p:cNvSpPr>
          <p:nvPr/>
        </p:nvSpPr>
        <p:spPr>
          <a:xfrm xmlns:a="http://schemas.openxmlformats.org/drawingml/2006/main">
            <a:off x="609600" y="4572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42"/>
                </a:solidFill>
                <a:latin typeface="Arial"/>
                <a:ea typeface="Arial"/>
                <a:cs typeface="Arial"/>
              </a:defRPr>
            </a:defPPr>
          </a:lstStyle>
          <a:p xmlns:a="http://schemas.openxmlformats.org/drawingml/2006/main">
            <a:pPr algn="l">
              <a:defRPr sz="3300" b="1">
                <a:solidFill>
                  <a:srgbClr val="173E42"/>
                </a:solidFill>
                <a:latin typeface="Arial"/>
                <a:ea typeface="Arial"/>
                <a:cs typeface="Arial"/>
              </a:defRPr>
            </a:pPr>
            <a:r>
              <a:rPr sz="3300" b="1">
                <a:solidFill>
                  <a:srgbClr val="173E42"/>
                </a:solidFill>
                <a:latin typeface="Arial"/>
                <a:ea typeface="Arial"/>
                <a:cs typeface="Arial"/>
              </a:rPr>
              <a:t>Prototype output: the citizen view</a:t>
            </a:r>
          </a:p>
        </p:txBody>
      </p:sp>
      <p:sp>
        <p:nvSpPr>
          <p:cNvPr id="2" name="5 / 7">
            <a:extLst xmlns:a="http://schemas.openxmlformats.org/drawingml/2006/main">
              <a:ext uri="{FF2B5EF4-FFF2-40B4-BE49-F238E27FC236}">
                <a16:creationId xmlns:a16="http://schemas.microsoft.com/office/drawing/2014/main" id="{BD8386BF-55AC-4592-B7CF-C0A1C6071B7C}"/>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869"/>
                </a:solidFill>
                <a:latin typeface="Arial"/>
                <a:ea typeface="Arial"/>
                <a:cs typeface="Arial"/>
              </a:defRPr>
            </a:defPPr>
          </a:lstStyle>
          <a:p xmlns:a="http://schemas.openxmlformats.org/drawingml/2006/main">
            <a:pPr algn="r">
              <a:defRPr sz="1200" b="0">
                <a:solidFill>
                  <a:srgbClr val="536869"/>
                </a:solidFill>
                <a:latin typeface="Arial"/>
                <a:ea typeface="Arial"/>
                <a:cs typeface="Arial"/>
              </a:defRPr>
            </a:pPr>
            <a:r>
              <a:rPr sz="1200" b="0">
                <a:solidFill>
                  <a:srgbClr val="536869"/>
                </a:solidFill>
                <a:latin typeface="Arial"/>
                <a:ea typeface="Arial"/>
                <a:cs typeface="Arial"/>
              </a:rPr>
              <a:t>5 / 7</a:t>
            </a:r>
          </a:p>
        </p:txBody>
      </p:sp>
      <p:sp>
        <p:nvSpPr>
          <p:cNvPr id="3" name="Simulated readings and bill estimate">
            <a:extLst xmlns:a="http://schemas.openxmlformats.org/drawingml/2006/main">
              <a:ext uri="{FF2B5EF4-FFF2-40B4-BE49-F238E27FC236}">
                <a16:creationId xmlns:a16="http://schemas.microsoft.com/office/drawing/2014/main" id="{14445249-F291-4BDF-823F-687E2D46AE69}"/>
              </a:ext>
            </a:extLst>
          </p:cNvPr>
          <p:cNvSpPr>
            <a:spLocks xmlns:a="http://schemas.openxmlformats.org/drawingml/2006/main" noGrp="1"/>
          </p:cNvSpPr>
          <p:nvPr/>
        </p:nvSpPr>
        <p:spPr>
          <a:xfrm xmlns:a="http://schemas.openxmlformats.org/drawingml/2006/main">
            <a:off x="609600" y="1419225"/>
            <a:ext cx="7505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3E42"/>
                </a:solidFill>
                <a:latin typeface="Arial"/>
                <a:ea typeface="Arial"/>
                <a:cs typeface="Arial"/>
              </a:defRPr>
            </a:defPPr>
          </a:lstStyle>
          <a:p xmlns:a="http://schemas.openxmlformats.org/drawingml/2006/main">
            <a:pPr algn="l">
              <a:defRPr sz="2100" b="1">
                <a:solidFill>
                  <a:srgbClr val="173E42"/>
                </a:solidFill>
                <a:latin typeface="Arial"/>
                <a:ea typeface="Arial"/>
                <a:cs typeface="Arial"/>
              </a:defRPr>
            </a:pPr>
            <a:r>
              <a:rPr sz="2100" b="1">
                <a:solidFill>
                  <a:srgbClr val="173E42"/>
                </a:solidFill>
                <a:latin typeface="Arial"/>
                <a:ea typeface="Arial"/>
                <a:cs typeface="Arial"/>
              </a:rPr>
              <a:t>Simulated readings and bill estimate</a:t>
            </a:r>
          </a:p>
        </p:txBody>
      </p:sp>
      <p:pic>
        <p:nvPicPr>
          <p:cNvPr id="4" name="">
            <a:extLst xmlns:a="http://schemas.openxmlformats.org/drawingml/2006/main">
              <a:ext uri="{FF2B5EF4-FFF2-40B4-BE49-F238E27FC236}">
                <a16:creationId xmlns:a16="http://schemas.microsoft.com/office/drawing/2014/main" id="{F7D89EE0-0C4F-46A5-9CFC-F6C519DF4EAE}"/>
              </a:ext>
            </a:extLst>
          </p:cNvPr>
          <p:cNvPicPr>
            <a:picLocks xmlns:a="http://schemas.openxmlformats.org/drawingml/2006/main" noChangeAspect="1"/>
          </p:cNvPicPr>
          <p:nvPr/>
        </p:nvPicPr>
        <p:blipFill>
          <a:blip xmlns:r="http://schemas.openxmlformats.org/officeDocument/2006/relationships" xmlns:a="http://schemas.openxmlformats.org/drawingml/2006/main" r:embed="R2a5df1fc15b64c62"/>
          <a:stretch xmlns:a="http://schemas.openxmlformats.org/drawingml/2006/main"/>
        </p:blipFill>
        <p:spPr>
          <a:xfrm xmlns:a="http://schemas.openxmlformats.org/drawingml/2006/main">
            <a:off x="609600" y="1999330"/>
            <a:ext cx="7572375" cy="3011740"/>
          </a:xfrm>
          <a:prstGeom xmlns:a="http://schemas.openxmlformats.org/drawingml/2006/main" prst="rect">
            <a:avLst/>
          </a:prstGeom>
        </p:spPr>
      </p:pic>
      <p:sp>
        <p:nvSpPr>
          <p:cNvPr id="5" name="Bill discrepancy alert">
            <a:extLst xmlns:a="http://schemas.openxmlformats.org/drawingml/2006/main">
              <a:ext uri="{FF2B5EF4-FFF2-40B4-BE49-F238E27FC236}">
                <a16:creationId xmlns:a16="http://schemas.microsoft.com/office/drawing/2014/main" id="{B459BBC5-5200-490E-B8C0-5C1607ED69FF}"/>
              </a:ext>
            </a:extLst>
          </p:cNvPr>
          <p:cNvSpPr>
            <a:spLocks xmlns:a="http://schemas.openxmlformats.org/drawingml/2006/main" noGrp="1"/>
          </p:cNvSpPr>
          <p:nvPr/>
        </p:nvSpPr>
        <p:spPr>
          <a:xfrm xmlns:a="http://schemas.openxmlformats.org/drawingml/2006/main">
            <a:off x="8591550" y="141922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3E42"/>
                </a:solidFill>
                <a:latin typeface="Arial"/>
                <a:ea typeface="Arial"/>
                <a:cs typeface="Arial"/>
              </a:defRPr>
            </a:defPPr>
          </a:lstStyle>
          <a:p xmlns:a="http://schemas.openxmlformats.org/drawingml/2006/main">
            <a:pPr algn="l">
              <a:defRPr sz="2100" b="1">
                <a:solidFill>
                  <a:srgbClr val="173E42"/>
                </a:solidFill>
                <a:latin typeface="Arial"/>
                <a:ea typeface="Arial"/>
                <a:cs typeface="Arial"/>
              </a:defRPr>
            </a:pPr>
            <a:r>
              <a:rPr sz="2100" b="1">
                <a:solidFill>
                  <a:srgbClr val="173E42"/>
                </a:solidFill>
                <a:latin typeface="Arial"/>
                <a:ea typeface="Arial"/>
                <a:cs typeface="Arial"/>
              </a:rPr>
              <a:t>Bill discrepancy alert</a:t>
            </a:r>
          </a:p>
        </p:txBody>
      </p:sp>
      <p:pic>
        <p:nvPicPr>
          <p:cNvPr id="6" name="">
            <a:extLst xmlns:a="http://schemas.openxmlformats.org/drawingml/2006/main">
              <a:ext uri="{FF2B5EF4-FFF2-40B4-BE49-F238E27FC236}">
                <a16:creationId xmlns:a16="http://schemas.microsoft.com/office/drawing/2014/main" id="{B33FA418-8962-4DAC-A704-12192EF4EE2C}"/>
              </a:ext>
            </a:extLst>
          </p:cNvPr>
          <p:cNvPicPr>
            <a:picLocks xmlns:a="http://schemas.openxmlformats.org/drawingml/2006/main" noChangeAspect="1"/>
          </p:cNvPicPr>
          <p:nvPr/>
        </p:nvPicPr>
        <p:blipFill>
          <a:blip xmlns:r="http://schemas.openxmlformats.org/officeDocument/2006/relationships" xmlns:a="http://schemas.openxmlformats.org/drawingml/2006/main" r:embed="R45160c94149a4a0c"/>
          <a:stretch xmlns:a="http://schemas.openxmlformats.org/drawingml/2006/main"/>
        </p:blipFill>
        <p:spPr>
          <a:xfrm xmlns:a="http://schemas.openxmlformats.org/drawingml/2006/main">
            <a:off x="8629650" y="1987956"/>
            <a:ext cx="2857500" cy="3053538"/>
          </a:xfrm>
          <a:prstGeom xmlns:a="http://schemas.openxmlformats.org/drawingml/2006/main" prst="rect">
            <a:avLst/>
          </a:prstGeom>
        </p:spPr>
      </p:pic>
      <p:sp>
        <p:nvSpPr>
          <p:cNvPr id="7" name="₹1,104">
            <a:extLst xmlns:a="http://schemas.openxmlformats.org/drawingml/2006/main">
              <a:ext uri="{FF2B5EF4-FFF2-40B4-BE49-F238E27FC236}">
                <a16:creationId xmlns:a16="http://schemas.microsoft.com/office/drawing/2014/main" id="{AC30E5BF-46AE-4918-88B6-C69074BF3B7A}"/>
              </a:ext>
            </a:extLst>
          </p:cNvPr>
          <p:cNvSpPr>
            <a:spLocks xmlns:a="http://schemas.openxmlformats.org/drawingml/2006/main" noGrp="1"/>
          </p:cNvSpPr>
          <p:nvPr/>
        </p:nvSpPr>
        <p:spPr>
          <a:xfrm xmlns:a="http://schemas.openxmlformats.org/drawingml/2006/main">
            <a:off x="609600" y="5267325"/>
            <a:ext cx="228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173E42"/>
                </a:solidFill>
                <a:latin typeface="Arial"/>
                <a:ea typeface="Arial"/>
                <a:cs typeface="Arial"/>
              </a:defRPr>
            </a:defPPr>
          </a:lstStyle>
          <a:p xmlns:a="http://schemas.openxmlformats.org/drawingml/2006/main">
            <a:pPr algn="l">
              <a:defRPr sz="3525" b="1">
                <a:solidFill>
                  <a:srgbClr val="173E42"/>
                </a:solidFill>
                <a:latin typeface="Arial"/>
                <a:ea typeface="Arial"/>
                <a:cs typeface="Arial"/>
              </a:defRPr>
            </a:pPr>
            <a:r>
              <a:rPr sz="3525" b="1">
                <a:solidFill>
                  <a:srgbClr val="173E42"/>
                </a:solidFill>
                <a:latin typeface="Arial"/>
                <a:ea typeface="Arial"/>
                <a:cs typeface="Arial"/>
              </a:rPr>
              <a:t>₹1,104</a:t>
            </a:r>
          </a:p>
        </p:txBody>
      </p:sp>
      <p:sp>
        <p:nvSpPr>
          <p:cNvPr id="8" name="displayed monthly estimate">
            <a:extLst xmlns:a="http://schemas.openxmlformats.org/drawingml/2006/main">
              <a:ext uri="{FF2B5EF4-FFF2-40B4-BE49-F238E27FC236}">
                <a16:creationId xmlns:a16="http://schemas.microsoft.com/office/drawing/2014/main" id="{CC1D6795-5A69-4A09-8B7D-BCA22C9617B5}"/>
              </a:ext>
            </a:extLst>
          </p:cNvPr>
          <p:cNvSpPr>
            <a:spLocks xmlns:a="http://schemas.openxmlformats.org/drawingml/2006/main" noGrp="1"/>
          </p:cNvSpPr>
          <p:nvPr/>
        </p:nvSpPr>
        <p:spPr>
          <a:xfrm xmlns:a="http://schemas.openxmlformats.org/drawingml/2006/main">
            <a:off x="609600" y="5943600"/>
            <a:ext cx="419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displayed monthly estimate</a:t>
            </a:r>
          </a:p>
        </p:txBody>
      </p:sp>
      <p:sp>
        <p:nvSpPr>
          <p:cNvPr id="9" name="₹1,680">
            <a:extLst xmlns:a="http://schemas.openxmlformats.org/drawingml/2006/main">
              <a:ext uri="{FF2B5EF4-FFF2-40B4-BE49-F238E27FC236}">
                <a16:creationId xmlns:a16="http://schemas.microsoft.com/office/drawing/2014/main" id="{19F5178B-D8F1-4AFD-B1C2-CAF2F5EE0F8B}"/>
              </a:ext>
            </a:extLst>
          </p:cNvPr>
          <p:cNvSpPr>
            <a:spLocks xmlns:a="http://schemas.openxmlformats.org/drawingml/2006/main" noGrp="1"/>
          </p:cNvSpPr>
          <p:nvPr/>
        </p:nvSpPr>
        <p:spPr>
          <a:xfrm xmlns:a="http://schemas.openxmlformats.org/drawingml/2006/main">
            <a:off x="5029200" y="5267325"/>
            <a:ext cx="276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173E42"/>
                </a:solidFill>
                <a:latin typeface="Arial"/>
                <a:ea typeface="Arial"/>
                <a:cs typeface="Arial"/>
              </a:defRPr>
            </a:defPPr>
          </a:lstStyle>
          <a:p xmlns:a="http://schemas.openxmlformats.org/drawingml/2006/main">
            <a:pPr algn="l">
              <a:defRPr sz="3525" b="1">
                <a:solidFill>
                  <a:srgbClr val="173E42"/>
                </a:solidFill>
                <a:latin typeface="Arial"/>
                <a:ea typeface="Arial"/>
                <a:cs typeface="Arial"/>
              </a:defRPr>
            </a:pPr>
            <a:r>
              <a:rPr sz="3525" b="1">
                <a:solidFill>
                  <a:srgbClr val="173E42"/>
                </a:solidFill>
                <a:latin typeface="Arial"/>
                <a:ea typeface="Arial"/>
                <a:cs typeface="Arial"/>
              </a:rPr>
              <a:t>₹1,680</a:t>
            </a:r>
          </a:p>
        </p:txBody>
      </p:sp>
      <p:sp>
        <p:nvSpPr>
          <p:cNvPr id="10" name="sample invoice entered">
            <a:extLst xmlns:a="http://schemas.openxmlformats.org/drawingml/2006/main">
              <a:ext uri="{FF2B5EF4-FFF2-40B4-BE49-F238E27FC236}">
                <a16:creationId xmlns:a16="http://schemas.microsoft.com/office/drawing/2014/main" id="{AE16149D-C922-4AD2-8434-B9658DE1BCA8}"/>
              </a:ext>
            </a:extLst>
          </p:cNvPr>
          <p:cNvSpPr>
            <a:spLocks xmlns:a="http://schemas.openxmlformats.org/drawingml/2006/main" noGrp="1"/>
          </p:cNvSpPr>
          <p:nvPr/>
        </p:nvSpPr>
        <p:spPr>
          <a:xfrm xmlns:a="http://schemas.openxmlformats.org/drawingml/2006/main">
            <a:off x="5029200" y="5943600"/>
            <a:ext cx="285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sample invoice entered</a:t>
            </a:r>
          </a:p>
        </p:txBody>
      </p:sp>
      <p:sp>
        <p:nvSpPr>
          <p:cNvPr id="11" name="₹576.25">
            <a:extLst xmlns:a="http://schemas.openxmlformats.org/drawingml/2006/main">
              <a:ext uri="{FF2B5EF4-FFF2-40B4-BE49-F238E27FC236}">
                <a16:creationId xmlns:a16="http://schemas.microsoft.com/office/drawing/2014/main" id="{90691641-3C86-4006-8FB8-1627CE202DC2}"/>
              </a:ext>
            </a:extLst>
          </p:cNvPr>
          <p:cNvSpPr>
            <a:spLocks xmlns:a="http://schemas.openxmlformats.org/drawingml/2006/main" noGrp="1"/>
          </p:cNvSpPr>
          <p:nvPr/>
        </p:nvSpPr>
        <p:spPr>
          <a:xfrm xmlns:a="http://schemas.openxmlformats.org/drawingml/2006/main">
            <a:off x="8610600" y="5267325"/>
            <a:ext cx="295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E6A228"/>
                </a:solidFill>
                <a:latin typeface="Arial"/>
                <a:ea typeface="Arial"/>
                <a:cs typeface="Arial"/>
              </a:defRPr>
            </a:defPPr>
          </a:lstStyle>
          <a:p xmlns:a="http://schemas.openxmlformats.org/drawingml/2006/main">
            <a:pPr algn="l">
              <a:defRPr sz="3525" b="1">
                <a:solidFill>
                  <a:srgbClr val="E6A228"/>
                </a:solidFill>
                <a:latin typeface="Arial"/>
                <a:ea typeface="Arial"/>
                <a:cs typeface="Arial"/>
              </a:defRPr>
            </a:pPr>
            <a:r>
              <a:rPr sz="3525" b="1">
                <a:solidFill>
                  <a:srgbClr val="E6A228"/>
                </a:solidFill>
                <a:latin typeface="Arial"/>
                <a:ea typeface="Arial"/>
                <a:cs typeface="Arial"/>
              </a:rPr>
              <a:t>₹576.25</a:t>
            </a:r>
          </a:p>
        </p:txBody>
      </p:sp>
      <p:sp>
        <p:nvSpPr>
          <p:cNvPr id="12" name="variance flagged for review">
            <a:extLst xmlns:a="http://schemas.openxmlformats.org/drawingml/2006/main">
              <a:ext uri="{FF2B5EF4-FFF2-40B4-BE49-F238E27FC236}">
                <a16:creationId xmlns:a16="http://schemas.microsoft.com/office/drawing/2014/main" id="{B924C37E-0BBB-4A6F-8490-C3DF249EC991}"/>
              </a:ext>
            </a:extLst>
          </p:cNvPr>
          <p:cNvSpPr>
            <a:spLocks xmlns:a="http://schemas.openxmlformats.org/drawingml/2006/main" noGrp="1"/>
          </p:cNvSpPr>
          <p:nvPr/>
        </p:nvSpPr>
        <p:spPr>
          <a:xfrm xmlns:a="http://schemas.openxmlformats.org/drawingml/2006/main">
            <a:off x="8610600" y="5943600"/>
            <a:ext cx="3000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869"/>
                </a:solidFill>
                <a:latin typeface="Arial"/>
                <a:ea typeface="Arial"/>
                <a:cs typeface="Arial"/>
              </a:defRPr>
            </a:defPPr>
          </a:lstStyle>
          <a:p xmlns:a="http://schemas.openxmlformats.org/drawingml/2006/main">
            <a:pPr algn="l">
              <a:defRPr sz="1725" b="0">
                <a:solidFill>
                  <a:srgbClr val="536869"/>
                </a:solidFill>
                <a:latin typeface="Arial"/>
                <a:ea typeface="Arial"/>
                <a:cs typeface="Arial"/>
              </a:defRPr>
            </a:pPr>
            <a:r>
              <a:rPr sz="1725" b="0">
                <a:solidFill>
                  <a:srgbClr val="536869"/>
                </a:solidFill>
                <a:latin typeface="Arial"/>
                <a:ea typeface="Arial"/>
                <a:cs typeface="Arial"/>
              </a:rPr>
              <a:t>variance flagged for review</a:t>
            </a:r>
          </a:p>
        </p:txBody>
      </p:sp>
    </p:spTree>
    <p:extLst>
      <p:ext uri="{BB962C8B-B14F-4D97-AF65-F5344CB8AC3E}">
        <p14:creationId xmlns:p14="http://schemas.microsoft.com/office/powerpoint/2010/main" val="1441741041"/>
      </p:ext>
    </p:extLst>
  </p:cSld>
</p:sld>
</file>

<file path=ppt/slides/slide6.xml><?xml version="1.0" encoding="utf-8"?>
<p:sld xmlns:p="http://schemas.openxmlformats.org/presentationml/2006/main">
  <p:cSld>
    <p:bg>
      <p:bgPr>
        <a:solidFill xmlns:a="http://schemas.openxmlformats.org/drawingml/2006/main">
          <a:srgbClr val="F5F6F0"/>
        </a:solidFill>
      </p:bgPr>
    </p:bg>
    <p:spTree>
      <p:nvGrpSpPr>
        <p:cNvPr id="1" name=""/>
        <p:cNvGrpSpPr/>
        <p:nvPr/>
      </p:nvGrpSpPr>
      <p:grpSpPr>
        <a:xfrm xmlns:a="http://schemas.openxmlformats.org/drawingml/2006/main"/>
      </p:grpSpPr>
      <p:sp>
        <p:nvSpPr>
          <p:cNvPr id="11" name="Prototype output: the utility view">
            <a:extLst xmlns:a="http://schemas.openxmlformats.org/drawingml/2006/main">
              <a:ext uri="{FF2B5EF4-FFF2-40B4-BE49-F238E27FC236}">
                <a16:creationId xmlns:a16="http://schemas.microsoft.com/office/drawing/2014/main" id="{B51D0F0E-17DC-487B-B485-516356B9AEDF}"/>
              </a:ext>
            </a:extLst>
          </p:cNvPr>
          <p:cNvSpPr>
            <a:spLocks xmlns:a="http://schemas.openxmlformats.org/drawingml/2006/main" noGrp="1"/>
          </p:cNvSpPr>
          <p:nvPr/>
        </p:nvSpPr>
        <p:spPr>
          <a:xfrm xmlns:a="http://schemas.openxmlformats.org/drawingml/2006/main">
            <a:off x="609600" y="457200"/>
            <a:ext cx="1090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E42"/>
                </a:solidFill>
                <a:latin typeface="Arial"/>
                <a:ea typeface="Arial"/>
                <a:cs typeface="Arial"/>
              </a:defRPr>
            </a:defPPr>
          </a:lstStyle>
          <a:p xmlns:a="http://schemas.openxmlformats.org/drawingml/2006/main">
            <a:pPr algn="l">
              <a:defRPr sz="3300" b="1">
                <a:solidFill>
                  <a:srgbClr val="173E42"/>
                </a:solidFill>
                <a:latin typeface="Arial"/>
                <a:ea typeface="Arial"/>
                <a:cs typeface="Arial"/>
              </a:defRPr>
            </a:pPr>
            <a:r>
              <a:rPr sz="3300" b="1">
                <a:solidFill>
                  <a:srgbClr val="173E42"/>
                </a:solidFill>
                <a:latin typeface="Arial"/>
                <a:ea typeface="Arial"/>
                <a:cs typeface="Arial"/>
              </a:rPr>
              <a:t>Prototype output: the utility view</a:t>
            </a:r>
          </a:p>
        </p:txBody>
      </p:sp>
      <p:sp>
        <p:nvSpPr>
          <p:cNvPr id="2" name="6 / 7">
            <a:extLst xmlns:a="http://schemas.openxmlformats.org/drawingml/2006/main">
              <a:ext uri="{FF2B5EF4-FFF2-40B4-BE49-F238E27FC236}">
                <a16:creationId xmlns:a16="http://schemas.microsoft.com/office/drawing/2014/main" id="{D662F5CC-8AC1-4060-937E-E59BBDE3349F}"/>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36869"/>
                </a:solidFill>
                <a:latin typeface="Arial"/>
                <a:ea typeface="Arial"/>
                <a:cs typeface="Arial"/>
              </a:defRPr>
            </a:defPPr>
          </a:lstStyle>
          <a:p xmlns:a="http://schemas.openxmlformats.org/drawingml/2006/main">
            <a:pPr algn="r">
              <a:defRPr sz="1200" b="0">
                <a:solidFill>
                  <a:srgbClr val="536869"/>
                </a:solidFill>
                <a:latin typeface="Arial"/>
                <a:ea typeface="Arial"/>
                <a:cs typeface="Arial"/>
              </a:defRPr>
            </a:pPr>
            <a:r>
              <a:rPr sz="1200" b="0">
                <a:solidFill>
                  <a:srgbClr val="536869"/>
                </a:solidFill>
                <a:latin typeface="Arial"/>
                <a:ea typeface="Arial"/>
                <a:cs typeface="Arial"/>
              </a:rPr>
              <a:t>6 / 7</a:t>
            </a:r>
          </a:p>
        </p:txBody>
      </p:sp>
      <p:pic>
        <p:nvPicPr>
          <p:cNvPr id="3" name="">
            <a:extLst xmlns:a="http://schemas.openxmlformats.org/drawingml/2006/main">
              <a:ext uri="{FF2B5EF4-FFF2-40B4-BE49-F238E27FC236}">
                <a16:creationId xmlns:a16="http://schemas.microsoft.com/office/drawing/2014/main" id="{B4BF30CA-C800-44E9-80AE-0011963171D2}"/>
              </a:ext>
            </a:extLst>
          </p:cNvPr>
          <p:cNvPicPr>
            <a:picLocks xmlns:a="http://schemas.openxmlformats.org/drawingml/2006/main" noChangeAspect="1"/>
          </p:cNvPicPr>
          <p:nvPr/>
        </p:nvPicPr>
        <p:blipFill>
          <a:blip xmlns:r="http://schemas.openxmlformats.org/officeDocument/2006/relationships" xmlns:a="http://schemas.openxmlformats.org/drawingml/2006/main" r:embed="Re911fb8a611d4386"/>
          <a:stretch xmlns:a="http://schemas.openxmlformats.org/drawingml/2006/main"/>
        </p:blipFill>
        <p:spPr>
          <a:xfrm xmlns:a="http://schemas.openxmlformats.org/drawingml/2006/main">
            <a:off x="613791" y="1504950"/>
            <a:ext cx="7744968" cy="4610100"/>
          </a:xfrm>
          <a:prstGeom xmlns:a="http://schemas.openxmlformats.org/drawingml/2006/main" prst="rect">
            <a:avLst/>
          </a:prstGeom>
        </p:spPr>
      </p:pic>
      <p:sp>
        <p:nvSpPr>
          <p:cNvPr id="4" name="Locality demand">
            <a:extLst xmlns:a="http://schemas.openxmlformats.org/drawingml/2006/main">
              <a:ext uri="{FF2B5EF4-FFF2-40B4-BE49-F238E27FC236}">
                <a16:creationId xmlns:a16="http://schemas.microsoft.com/office/drawing/2014/main" id="{5845DAB2-61CC-4425-966C-8E53F2BDEB21}"/>
              </a:ext>
            </a:extLst>
          </p:cNvPr>
          <p:cNvSpPr>
            <a:spLocks xmlns:a="http://schemas.openxmlformats.org/drawingml/2006/main" noGrp="1"/>
          </p:cNvSpPr>
          <p:nvPr/>
        </p:nvSpPr>
        <p:spPr>
          <a:xfrm xmlns:a="http://schemas.openxmlformats.org/drawingml/2006/main">
            <a:off x="8715375" y="1666875"/>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Locality demand</a:t>
            </a:r>
          </a:p>
        </p:txBody>
      </p:sp>
      <p:sp>
        <p:nvSpPr>
          <p:cNvPr id="5" name="Complaint patterns">
            <a:extLst xmlns:a="http://schemas.openxmlformats.org/drawingml/2006/main">
              <a:ext uri="{FF2B5EF4-FFF2-40B4-BE49-F238E27FC236}">
                <a16:creationId xmlns:a16="http://schemas.microsoft.com/office/drawing/2014/main" id="{01CEAD3D-3DFF-411A-AF62-313049875572}"/>
              </a:ext>
            </a:extLst>
          </p:cNvPr>
          <p:cNvSpPr>
            <a:spLocks xmlns:a="http://schemas.openxmlformats.org/drawingml/2006/main" noGrp="1"/>
          </p:cNvSpPr>
          <p:nvPr/>
        </p:nvSpPr>
        <p:spPr>
          <a:xfrm xmlns:a="http://schemas.openxmlformats.org/drawingml/2006/main">
            <a:off x="8715375" y="224790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Complaint patterns</a:t>
            </a:r>
          </a:p>
        </p:txBody>
      </p:sp>
      <p:sp>
        <p:nvSpPr>
          <p:cNvPr id="6" name="Staff and schedules">
            <a:extLst xmlns:a="http://schemas.openxmlformats.org/drawingml/2006/main">
              <a:ext uri="{FF2B5EF4-FFF2-40B4-BE49-F238E27FC236}">
                <a16:creationId xmlns:a16="http://schemas.microsoft.com/office/drawing/2014/main" id="{B45EFEDD-2C8C-4ED2-A3BD-554E9A312FBE}"/>
              </a:ext>
            </a:extLst>
          </p:cNvPr>
          <p:cNvSpPr>
            <a:spLocks xmlns:a="http://schemas.openxmlformats.org/drawingml/2006/main" noGrp="1"/>
          </p:cNvSpPr>
          <p:nvPr/>
        </p:nvSpPr>
        <p:spPr>
          <a:xfrm xmlns:a="http://schemas.openxmlformats.org/drawingml/2006/main">
            <a:off x="8715375" y="2828925"/>
            <a:ext cx="3095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E42"/>
                </a:solidFill>
                <a:latin typeface="Arial"/>
                <a:ea typeface="Arial"/>
                <a:cs typeface="Arial"/>
              </a:defRPr>
            </a:defPPr>
          </a:lstStyle>
          <a:p xmlns:a="http://schemas.openxmlformats.org/drawingml/2006/main">
            <a:pPr algn="l">
              <a:defRPr sz="2175" b="1">
                <a:solidFill>
                  <a:srgbClr val="173E42"/>
                </a:solidFill>
                <a:latin typeface="Arial"/>
                <a:ea typeface="Arial"/>
                <a:cs typeface="Arial"/>
              </a:defRPr>
            </a:pPr>
            <a:r>
              <a:rPr sz="2175" b="1">
                <a:solidFill>
                  <a:srgbClr val="173E42"/>
                </a:solidFill>
                <a:latin typeface="Arial"/>
                <a:ea typeface="Arial"/>
                <a:cs typeface="Arial"/>
              </a:rPr>
              <a:t>Staff and schedules</a:t>
            </a:r>
          </a:p>
        </p:txBody>
      </p:sp>
      <p:sp>
        <p:nvSpPr>
          <p:cNvPr id="7" name="22 / 22">
            <a:extLst xmlns:a="http://schemas.openxmlformats.org/drawingml/2006/main">
              <a:ext uri="{FF2B5EF4-FFF2-40B4-BE49-F238E27FC236}">
                <a16:creationId xmlns:a16="http://schemas.microsoft.com/office/drawing/2014/main" id="{5033E8E1-E31A-49B9-A006-3F4F58DE8021}"/>
              </a:ext>
            </a:extLst>
          </p:cNvPr>
          <p:cNvSpPr>
            <a:spLocks xmlns:a="http://schemas.openxmlformats.org/drawingml/2006/main" noGrp="1"/>
          </p:cNvSpPr>
          <p:nvPr/>
        </p:nvSpPr>
        <p:spPr>
          <a:xfrm xmlns:a="http://schemas.openxmlformats.org/drawingml/2006/main">
            <a:off x="8715375" y="3743325"/>
            <a:ext cx="30099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E6A228"/>
                </a:solidFill>
                <a:latin typeface="Arial"/>
                <a:ea typeface="Arial"/>
                <a:cs typeface="Arial"/>
              </a:defRPr>
            </a:defPPr>
          </a:lstStyle>
          <a:p xmlns:a="http://schemas.openxmlformats.org/drawingml/2006/main">
            <a:pPr algn="l">
              <a:defRPr sz="4500" b="1">
                <a:solidFill>
                  <a:srgbClr val="E6A228"/>
                </a:solidFill>
                <a:latin typeface="Arial"/>
                <a:ea typeface="Arial"/>
                <a:cs typeface="Arial"/>
              </a:defRPr>
            </a:pPr>
            <a:r>
              <a:rPr sz="4500" b="1">
                <a:solidFill>
                  <a:srgbClr val="E6A228"/>
                </a:solidFill>
                <a:latin typeface="Arial"/>
                <a:ea typeface="Arial"/>
                <a:cs typeface="Arial"/>
              </a:rPr>
              <a:t>22 / 22</a:t>
            </a:r>
          </a:p>
        </p:txBody>
      </p:sp>
      <p:sp>
        <p:nvSpPr>
          <p:cNvPr id="8" name="targeted checks passed">
            <a:extLst xmlns:a="http://schemas.openxmlformats.org/drawingml/2006/main">
              <a:ext uri="{FF2B5EF4-FFF2-40B4-BE49-F238E27FC236}">
                <a16:creationId xmlns:a16="http://schemas.microsoft.com/office/drawing/2014/main" id="{3EBA4806-E14F-446D-AAD8-8CD60900B7C5}"/>
              </a:ext>
            </a:extLst>
          </p:cNvPr>
          <p:cNvSpPr>
            <a:spLocks xmlns:a="http://schemas.openxmlformats.org/drawingml/2006/main" noGrp="1"/>
          </p:cNvSpPr>
          <p:nvPr/>
        </p:nvSpPr>
        <p:spPr>
          <a:xfrm xmlns:a="http://schemas.openxmlformats.org/drawingml/2006/main">
            <a:off x="8715375" y="4610100"/>
            <a:ext cx="3000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869"/>
                </a:solidFill>
                <a:latin typeface="Arial"/>
                <a:ea typeface="Arial"/>
                <a:cs typeface="Arial"/>
              </a:defRPr>
            </a:defPPr>
          </a:lstStyle>
          <a:p xmlns:a="http://schemas.openxmlformats.org/drawingml/2006/main">
            <a:pPr algn="l">
              <a:defRPr sz="1875" b="0">
                <a:solidFill>
                  <a:srgbClr val="536869"/>
                </a:solidFill>
                <a:latin typeface="Arial"/>
                <a:ea typeface="Arial"/>
                <a:cs typeface="Arial"/>
              </a:defRPr>
            </a:pPr>
            <a:r>
              <a:rPr sz="1875" b="0">
                <a:solidFill>
                  <a:srgbClr val="536869"/>
                </a:solidFill>
                <a:latin typeface="Arial"/>
                <a:ea typeface="Arial"/>
                <a:cs typeface="Arial"/>
              </a:rPr>
              <a:t>targeted checks passed</a:t>
            </a:r>
          </a:p>
        </p:txBody>
      </p:sp>
      <p:sp>
        <p:nvSpPr>
          <p:cNvPr id="9" name="Next: physical sensing,&#10;secure access and&#10;reliable reminders">
            <a:extLst xmlns:a="http://schemas.openxmlformats.org/drawingml/2006/main">
              <a:ext uri="{FF2B5EF4-FFF2-40B4-BE49-F238E27FC236}">
                <a16:creationId xmlns:a16="http://schemas.microsoft.com/office/drawing/2014/main" id="{88865A46-48AE-4FA6-93B6-C4C6AC2E4B94}"/>
              </a:ext>
            </a:extLst>
          </p:cNvPr>
          <p:cNvSpPr>
            <a:spLocks xmlns:a="http://schemas.openxmlformats.org/drawingml/2006/main" noGrp="1"/>
          </p:cNvSpPr>
          <p:nvPr/>
        </p:nvSpPr>
        <p:spPr>
          <a:xfrm xmlns:a="http://schemas.openxmlformats.org/drawingml/2006/main">
            <a:off x="8715375" y="540067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869"/>
                </a:solidFill>
                <a:latin typeface="Arial"/>
                <a:ea typeface="Arial"/>
                <a:cs typeface="Arial"/>
              </a:defRPr>
            </a:defPPr>
          </a:lstStyle>
          <a:p xmlns:a="http://schemas.openxmlformats.org/drawingml/2006/main">
            <a:pPr algn="l">
              <a:defRPr sz="1800" b="0">
                <a:solidFill>
                  <a:srgbClr val="536869"/>
                </a:solidFill>
                <a:latin typeface="Arial"/>
                <a:ea typeface="Arial"/>
                <a:cs typeface="Arial"/>
              </a:defRPr>
            </a:pPr>
            <a:r>
              <a:rPr sz="1800" b="0">
                <a:solidFill>
                  <a:srgbClr val="536869"/>
                </a:solidFill>
                <a:latin typeface="Arial"/>
                <a:ea typeface="Arial"/>
                <a:cs typeface="Arial"/>
              </a:rPr>
              <a:t>Next: physical sensing,</a:t>
            </a:r>
          </a:p>
          <a:p xmlns:a="http://schemas.openxmlformats.org/drawingml/2006/main">
            <a:pPr algn="l">
              <a:defRPr sz="1800" b="0">
                <a:solidFill>
                  <a:srgbClr val="536869"/>
                </a:solidFill>
                <a:latin typeface="Arial"/>
                <a:ea typeface="Arial"/>
                <a:cs typeface="Arial"/>
              </a:defRPr>
            </a:pPr>
            <a:r>
              <a:rPr sz="1800" b="0">
                <a:solidFill>
                  <a:srgbClr val="536869"/>
                </a:solidFill>
                <a:latin typeface="Arial"/>
                <a:ea typeface="Arial"/>
                <a:cs typeface="Arial"/>
              </a:rPr>
              <a:t>secure access and</a:t>
            </a:r>
          </a:p>
          <a:p xmlns:a="http://schemas.openxmlformats.org/drawingml/2006/main">
            <a:pPr algn="l">
              <a:defRPr sz="1800" b="0">
                <a:solidFill>
                  <a:srgbClr val="536869"/>
                </a:solidFill>
                <a:latin typeface="Arial"/>
                <a:ea typeface="Arial"/>
                <a:cs typeface="Arial"/>
              </a:defRPr>
            </a:pPr>
            <a:r>
              <a:rPr sz="1800" b="0">
                <a:solidFill>
                  <a:srgbClr val="536869"/>
                </a:solidFill>
                <a:latin typeface="Arial"/>
                <a:ea typeface="Arial"/>
                <a:cs typeface="Arial"/>
              </a:rPr>
              <a:t>reliable reminders</a:t>
            </a:r>
          </a:p>
        </p:txBody>
      </p:sp>
      <p:sp>
        <p:nvSpPr>
          <p:cNvPr id="10" name="Dashboard uses sample operational data">
            <a:extLst xmlns:a="http://schemas.openxmlformats.org/drawingml/2006/main">
              <a:ext uri="{FF2B5EF4-FFF2-40B4-BE49-F238E27FC236}">
                <a16:creationId xmlns:a16="http://schemas.microsoft.com/office/drawing/2014/main" id="{E7CDDA20-A4B9-445F-A677-AAA7EB0ABD60}"/>
              </a:ext>
            </a:extLst>
          </p:cNvPr>
          <p:cNvSpPr>
            <a:spLocks xmlns:a="http://schemas.openxmlformats.org/drawingml/2006/main" noGrp="1"/>
          </p:cNvSpPr>
          <p:nvPr/>
        </p:nvSpPr>
        <p:spPr>
          <a:xfrm xmlns:a="http://schemas.openxmlformats.org/drawingml/2006/main">
            <a:off x="609600" y="6181725"/>
            <a:ext cx="7658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36869"/>
                </a:solidFill>
                <a:latin typeface="Arial"/>
                <a:ea typeface="Arial"/>
                <a:cs typeface="Arial"/>
              </a:defRPr>
            </a:defPPr>
          </a:lstStyle>
          <a:p xmlns:a="http://schemas.openxmlformats.org/drawingml/2006/main">
            <a:pPr algn="l">
              <a:defRPr sz="1725" b="0">
                <a:solidFill>
                  <a:srgbClr val="536869"/>
                </a:solidFill>
                <a:latin typeface="Arial"/>
                <a:ea typeface="Arial"/>
                <a:cs typeface="Arial"/>
              </a:defRPr>
            </a:pPr>
            <a:r>
              <a:rPr sz="1725" b="0">
                <a:solidFill>
                  <a:srgbClr val="536869"/>
                </a:solidFill>
                <a:latin typeface="Arial"/>
                <a:ea typeface="Arial"/>
                <a:cs typeface="Arial"/>
              </a:rPr>
              <a:t>Dashboard uses sample operational data</a:t>
            </a:r>
          </a:p>
        </p:txBody>
      </p:sp>
    </p:spTree>
    <p:extLst>
      <p:ext uri="{BB962C8B-B14F-4D97-AF65-F5344CB8AC3E}">
        <p14:creationId xmlns:p14="http://schemas.microsoft.com/office/powerpoint/2010/main" val="267297255"/>
      </p:ext>
    </p:extLst>
  </p:cSld>
</p:sld>
</file>

<file path=ppt/slides/slide7.xml><?xml version="1.0" encoding="utf-8"?>
<p:sld xmlns:p="http://schemas.openxmlformats.org/presentationml/2006/main">
  <p:cSld>
    <p:bg>
      <p:bgPr>
        <a:solidFill xmlns:a="http://schemas.openxmlformats.org/drawingml/2006/main">
          <a:srgbClr val="173E42"/>
        </a:solidFill>
      </p:bgPr>
    </p:bg>
    <p:spTree>
      <p:nvGrpSpPr>
        <p:cNvPr id="1" name=""/>
        <p:cNvGrpSpPr/>
        <p:nvPr/>
      </p:nvGrpSpPr>
      <p:grpSpPr>
        <a:xfrm xmlns:a="http://schemas.openxmlformats.org/drawingml/2006/main"/>
      </p:grpSpPr>
      <p:sp>
        <p:nvSpPr>
          <p:cNvPr id="6" name="7 / 7">
            <a:extLst xmlns:a="http://schemas.openxmlformats.org/drawingml/2006/main">
              <a:ext uri="{FF2B5EF4-FFF2-40B4-BE49-F238E27FC236}">
                <a16:creationId xmlns:a16="http://schemas.microsoft.com/office/drawing/2014/main" id="{89B6ABF3-5518-4402-A83A-E6CB483C1276}"/>
              </a:ext>
            </a:extLst>
          </p:cNvPr>
          <p:cNvSpPr>
            <a:spLocks xmlns:a="http://schemas.openxmlformats.org/drawingml/2006/main" noGrp="1"/>
          </p:cNvSpPr>
          <p:nvPr/>
        </p:nvSpPr>
        <p:spPr>
          <a:xfrm xmlns:a="http://schemas.openxmlformats.org/drawingml/2006/main">
            <a:off x="11049000" y="6410325"/>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CEDBD6"/>
                </a:solidFill>
                <a:latin typeface="Arial"/>
                <a:ea typeface="Arial"/>
                <a:cs typeface="Arial"/>
              </a:defRPr>
            </a:defPPr>
          </a:lstStyle>
          <a:p xmlns:a="http://schemas.openxmlformats.org/drawingml/2006/main">
            <a:pPr algn="r">
              <a:defRPr sz="1200" b="0">
                <a:solidFill>
                  <a:srgbClr val="CEDBD6"/>
                </a:solidFill>
                <a:latin typeface="Arial"/>
                <a:ea typeface="Arial"/>
                <a:cs typeface="Arial"/>
              </a:defRPr>
            </a:pPr>
            <a:r>
              <a:rPr sz="1200" b="0">
                <a:solidFill>
                  <a:srgbClr val="CEDBD6"/>
                </a:solidFill>
                <a:latin typeface="Arial"/>
                <a:ea typeface="Arial"/>
                <a:cs typeface="Arial"/>
              </a:rPr>
              <a:t>7 / 7</a:t>
            </a:r>
          </a:p>
        </p:txBody>
      </p:sp>
      <p:sp>
        <p:nvSpPr>
          <p:cNvPr id="2" name="Thank You">
            <a:extLst xmlns:a="http://schemas.openxmlformats.org/drawingml/2006/main">
              <a:ext uri="{FF2B5EF4-FFF2-40B4-BE49-F238E27FC236}">
                <a16:creationId xmlns:a16="http://schemas.microsoft.com/office/drawing/2014/main" id="{25F0B621-C829-4B2D-8D12-0188D1E7E74E}"/>
              </a:ext>
            </a:extLst>
          </p:cNvPr>
          <p:cNvSpPr>
            <a:spLocks xmlns:a="http://schemas.openxmlformats.org/drawingml/2006/main" noGrp="1"/>
          </p:cNvSpPr>
          <p:nvPr/>
        </p:nvSpPr>
        <p:spPr>
          <a:xfrm xmlns:a="http://schemas.openxmlformats.org/drawingml/2006/main">
            <a:off x="609600" y="2286000"/>
            <a:ext cx="1095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7200" b="1">
                <a:solidFill>
                  <a:srgbClr val="FFFFFF"/>
                </a:solidFill>
                <a:latin typeface="Arial"/>
                <a:ea typeface="Arial"/>
                <a:cs typeface="Arial"/>
              </a:defRPr>
            </a:defPPr>
          </a:lstStyle>
          <a:p xmlns:a="http://schemas.openxmlformats.org/drawingml/2006/main">
            <a:pPr algn="ctr">
              <a:defRPr sz="7200" b="1">
                <a:solidFill>
                  <a:srgbClr val="FFFFFF"/>
                </a:solidFill>
                <a:latin typeface="Arial"/>
                <a:ea typeface="Arial"/>
                <a:cs typeface="Arial"/>
              </a:defRPr>
            </a:pPr>
            <a:r>
              <a:rPr sz="7200" b="1">
                <a:solidFill>
                  <a:srgbClr val="FFFFFF"/>
                </a:solidFill>
                <a:latin typeface="Arial"/>
                <a:ea typeface="Arial"/>
                <a:cs typeface="Arial"/>
              </a:rPr>
              <a:t>Thank You</a:t>
            </a:r>
          </a:p>
        </p:txBody>
      </p:sp>
      <p:sp>
        <p:nvSpPr>
          <p:cNvPr id="3" name="Questions and feedback">
            <a:extLst xmlns:a="http://schemas.openxmlformats.org/drawingml/2006/main">
              <a:ext uri="{FF2B5EF4-FFF2-40B4-BE49-F238E27FC236}">
                <a16:creationId xmlns:a16="http://schemas.microsoft.com/office/drawing/2014/main" id="{CA5A3439-DC02-4ED0-B1E6-49B656A7D877}"/>
              </a:ext>
            </a:extLst>
          </p:cNvPr>
          <p:cNvSpPr>
            <a:spLocks xmlns:a="http://schemas.openxmlformats.org/drawingml/2006/main" noGrp="1"/>
          </p:cNvSpPr>
          <p:nvPr/>
        </p:nvSpPr>
        <p:spPr>
          <a:xfrm xmlns:a="http://schemas.openxmlformats.org/drawingml/2006/main">
            <a:off x="609600" y="39719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550" b="0">
                <a:solidFill>
                  <a:srgbClr val="E6A228"/>
                </a:solidFill>
                <a:latin typeface="Arial"/>
                <a:ea typeface="Arial"/>
                <a:cs typeface="Arial"/>
              </a:defRPr>
            </a:defPPr>
          </a:lstStyle>
          <a:p xmlns:a="http://schemas.openxmlformats.org/drawingml/2006/main">
            <a:pPr algn="ctr">
              <a:defRPr sz="2550" b="0">
                <a:solidFill>
                  <a:srgbClr val="E6A228"/>
                </a:solidFill>
                <a:latin typeface="Arial"/>
                <a:ea typeface="Arial"/>
                <a:cs typeface="Arial"/>
              </a:defRPr>
            </a:pPr>
            <a:r>
              <a:rPr sz="2550" b="0">
                <a:solidFill>
                  <a:srgbClr val="E6A228"/>
                </a:solidFill>
                <a:latin typeface="Arial"/>
                <a:ea typeface="Arial"/>
                <a:cs typeface="Arial"/>
              </a:rPr>
              <a:t>Questions and feedback</a:t>
            </a:r>
          </a:p>
        </p:txBody>
      </p:sp>
      <p:sp>
        <p:nvSpPr>
          <p:cNvPr id="4" name="Pawan Suryakant Tiwari">
            <a:extLst xmlns:a="http://schemas.openxmlformats.org/drawingml/2006/main">
              <a:ext uri="{FF2B5EF4-FFF2-40B4-BE49-F238E27FC236}">
                <a16:creationId xmlns:a16="http://schemas.microsoft.com/office/drawing/2014/main" id="{9FEEB036-D1AB-4D52-9F9A-DEFEFAC60185}"/>
              </a:ext>
            </a:extLst>
          </p:cNvPr>
          <p:cNvSpPr>
            <a:spLocks xmlns:a="http://schemas.openxmlformats.org/drawingml/2006/main" noGrp="1"/>
          </p:cNvSpPr>
          <p:nvPr/>
        </p:nvSpPr>
        <p:spPr>
          <a:xfrm xmlns:a="http://schemas.openxmlformats.org/drawingml/2006/main">
            <a:off x="609600" y="52387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0">
                <a:solidFill>
                  <a:srgbClr val="CEDBD6"/>
                </a:solidFill>
                <a:latin typeface="Arial"/>
                <a:ea typeface="Arial"/>
                <a:cs typeface="Arial"/>
              </a:defRPr>
            </a:defPPr>
          </a:lstStyle>
          <a:p xmlns:a="http://schemas.openxmlformats.org/drawingml/2006/main">
            <a:pPr algn="ctr">
              <a:defRPr sz="2025" b="0">
                <a:solidFill>
                  <a:srgbClr val="CEDBD6"/>
                </a:solidFill>
                <a:latin typeface="Arial"/>
                <a:ea typeface="Arial"/>
                <a:cs typeface="Arial"/>
              </a:defRPr>
            </a:pPr>
            <a:r>
              <a:rPr sz="2025" b="0">
                <a:solidFill>
                  <a:srgbClr val="CEDBD6"/>
                </a:solidFill>
                <a:latin typeface="Arial"/>
                <a:ea typeface="Arial"/>
                <a:cs typeface="Arial"/>
              </a:rPr>
              <a:t>Pawan Suryakant Tiwari</a:t>
            </a:r>
          </a:p>
        </p:txBody>
      </p:sp>
      <p:sp>
        <p:nvSpPr>
          <p:cNvPr id="5" name="GridPulse project">
            <a:extLst xmlns:a="http://schemas.openxmlformats.org/drawingml/2006/main">
              <a:ext uri="{FF2B5EF4-FFF2-40B4-BE49-F238E27FC236}">
                <a16:creationId xmlns:a16="http://schemas.microsoft.com/office/drawing/2014/main" id="{541A105A-C417-4BCF-BA75-F2A46293EDC7}"/>
              </a:ext>
            </a:extLst>
          </p:cNvPr>
          <p:cNvSpPr>
            <a:spLocks xmlns:a="http://schemas.openxmlformats.org/drawingml/2006/main" noGrp="1"/>
          </p:cNvSpPr>
          <p:nvPr/>
        </p:nvSpPr>
        <p:spPr>
          <a:xfrm xmlns:a="http://schemas.openxmlformats.org/drawingml/2006/main">
            <a:off x="609600" y="576262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CEDBD6"/>
                </a:solidFill>
                <a:latin typeface="Arial"/>
                <a:ea typeface="Arial"/>
                <a:cs typeface="Arial"/>
              </a:defRPr>
            </a:defPPr>
          </a:lstStyle>
          <a:p xmlns:a="http://schemas.openxmlformats.org/drawingml/2006/main">
            <a:pPr algn="ctr">
              <a:defRPr sz="1875" b="0">
                <a:solidFill>
                  <a:srgbClr val="CEDBD6"/>
                </a:solidFill>
                <a:latin typeface="Arial"/>
                <a:ea typeface="Arial"/>
                <a:cs typeface="Arial"/>
              </a:defRPr>
            </a:pPr>
            <a:r>
              <a:rPr sz="1875" b="0">
                <a:solidFill>
                  <a:srgbClr val="CEDBD6"/>
                </a:solidFill>
                <a:latin typeface="Arial"/>
                <a:ea typeface="Arial"/>
                <a:cs typeface="Arial"/>
              </a:rPr>
              <a:t>GridPulse project</a:t>
            </a:r>
          </a:p>
        </p:txBody>
      </p:sp>
    </p:spTree>
    <p:extLst>
      <p:ext uri="{BB962C8B-B14F-4D97-AF65-F5344CB8AC3E}">
        <p14:creationId xmlns:p14="http://schemas.microsoft.com/office/powerpoint/2010/main" val="18672932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2026-10-12T15:00:38.4830000Z</dcterms:created>
  <dcterms:modified xsi:type="dcterms:W3CDTF">2026-10-12T15:00:38.4830000Z</dcterms:modified>
</coreProperties>
</file>